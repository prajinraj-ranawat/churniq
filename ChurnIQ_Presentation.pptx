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data" id="{d8adf764-c6cd-55e0-bd94-638486ccd24b}">
          <p14:sldIdLst>
            <p14:sldId id="256"/>
            <p14:sldId id="257"/>
            <p14:sldId id="258"/>
            <p14:sldId id="259"/>
          </p14:sldIdLst>
        </p14:section>
        <p14:section name="Method" id="{cc1b6ec2-a24e-5c82-ff55-b131debaad77}">
          <p14:sldIdLst>
            <p14:sldId id="260"/>
            <p14:sldId id="261"/>
            <p14:sldId id="262"/>
          </p14:sldIdLst>
        </p14:section>
        <p14:section name="Results" id="{cdb405db-4c1e-164c-24c7-225a25702bcc}">
          <p14:sldIdLst>
            <p14:sldId id="263"/>
            <p14:sldId id="264"/>
            <p14:sldId id="265"/>
            <p14:sldId id="266"/>
            <p14:sldId id="267"/>
          </p14:sldIdLst>
        </p14:section>
        <p14:section name="Wrap-up" id="{5d735f6f-9a13-3a40-771c-842aa2ee11c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263A"/>
                </a:solidFill>
                <a:latin typeface="Calibri"/>
              </a:defRPr>
            </a:pPr>
            <a:r>
              <a:rPr sz="1400" b="0" i="0" u="none" strike="noStrike">
                <a:solidFill>
                  <a:srgbClr val="12263A"/>
                </a:solidFill>
                <a:latin typeface="Calibri"/>
              </a:rPr>
              <a:t>Churn rate by contract</a:t>
            </a:r>
          </a:p>
        </c:rich>
      </c:tx>
      <c:layout/>
      <c:overlay val="0"/>
    </c:title>
    <c:autoTitleDeleted val="0"/>
    <c:plotArea>
      <c:layout/>
      <c:barChart>
        <c:barDir val="col"/>
        <c:grouping val="clustered"/>
        <c:varyColors val="0"/>
        <c:ser>
          <c:idx val="0"/>
          <c:order val="0"/>
          <c:tx>
            <c:strRef>
              <c:f>Sheet1!$B$1</c:f>
              <c:strCache>
                <c:ptCount val="1"/>
                <c:pt idx="0">
                  <c:v>Churn rate</c:v>
                </c:pt>
              </c:strCache>
            </c:strRef>
          </c:tx>
          <c:spPr>
            <a:solidFill>
              <a:srgbClr val="E4572E"/>
            </a:solidFill>
            <a:effectLst/>
          </c:spPr>
          <c:invertIfNegative val="0"/>
          <c:dLbls>
            <c:numFmt formatCode="0.0%" sourceLinked="0"/>
            <c:txPr>
              <a:bodyPr/>
              <a:lstStyle/>
              <a:p>
                <a:pPr>
                  <a:defRPr b="0" i="0" strike="noStrike" sz="12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E4572E"/>
              </a:solidFill>
              <a:effectLst/>
            </c:spPr>
          </c:dPt>
          <c:dPt>
            <c:idx val="1"/>
            <c:invertIfNegative val="0"/>
            <c:bubble3D val="0"/>
            <c:spPr>
              <a:solidFill>
                <a:srgbClr val="F2A541"/>
              </a:solidFill>
              <a:effectLst/>
            </c:spPr>
          </c:dPt>
          <c:dPt>
            <c:idx val="2"/>
            <c:invertIfNegative val="0"/>
            <c:bubble3D val="0"/>
            <c:spPr>
              <a:solidFill>
                <a:srgbClr val="2E86AB"/>
              </a:solidFill>
              <a:effectLst/>
            </c:spPr>
          </c:dPt>
          <c:cat>
            <c:multiLvlStrRef>
              <c:f>Sheet1!$A$2:$A$4</c:f>
              <c:multiLvlStrCache>
                <c:ptCount val="3"/>
                <c:lvl>
                  <c:pt idx="0">
                    <c:v>Month-to-month</c:v>
                  </c:pt>
                  <c:pt idx="1">
                    <c:v>One year</c:v>
                  </c:pt>
                  <c:pt idx="2">
                    <c:v>Two year</c:v>
                  </c:pt>
                </c:lvl>
              </c:multiLvlStrCache>
            </c:multiLvlStrRef>
          </c:cat>
          <c:val>
            <c:numRef>
              <c:f>Sheet1!$B$2:$B$4</c:f>
              <c:numCache>
                <c:formatCode>General</c:formatCode>
                <c:ptCount val="3"/>
                <c:pt idx="0">
                  <c:v>0.427</c:v>
                </c:pt>
                <c:pt idx="1">
                  <c:v>0.113</c:v>
                </c:pt>
                <c:pt idx="2">
                  <c:v>0.028</c:v>
                </c:pt>
              </c:numCache>
            </c:numRef>
          </c:val>
        </c:ser>
        <c:dLbls>
          <c:numFmt formatCode="0.0%" sourceLinked="0"/>
          <c:txPr>
            <a:bodyPr/>
            <a:lstStyle/>
            <a:p>
              <a:pPr>
                <a:defRPr b="0" i="0" strike="noStrike" sz="1200" u="none">
                  <a:solidFill>
                    <a:srgbClr val="1226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2263A"/>
                </a:solidFill>
                <a:latin typeface="Calibri"/>
              </a:defRPr>
            </a:pPr>
            <a:endParaRPr lang="en-US"/>
          </a:p>
        </c:txPr>
        <c:crossAx val="2094734552"/>
        <c:crosses val="autoZero"/>
        <c:auto val="1"/>
        <c:lblAlgn val="ctr"/>
        <c:noMultiLvlLbl val="1"/>
      </c:catAx>
      <c:valAx>
        <c:axId val="2094734552"/>
        <c:scaling>
          <c:orientation val="minMax"/>
          <c:max val="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263A"/>
                </a:solidFill>
                <a:latin typeface="Calibri"/>
              </a:defRPr>
            </a:pPr>
            <a:r>
              <a:rPr sz="1200" b="0" i="0" u="none" strike="noStrike">
                <a:solidFill>
                  <a:srgbClr val="12263A"/>
                </a:solidFill>
                <a:latin typeface="Calibri"/>
              </a:rPr>
              <a:t>Largest weights (red raises churn risk)</a:t>
            </a:r>
          </a:p>
        </c:rich>
      </c:tx>
      <c:layout/>
      <c:overlay val="0"/>
    </c:title>
    <c:autoTitleDeleted val="0"/>
    <c:plotArea>
      <c:layout/>
      <c:barChart>
        <c:barDir val="bar"/>
        <c:grouping val="clustered"/>
        <c:varyColors val="0"/>
        <c:ser>
          <c:idx val="0"/>
          <c:order val="0"/>
          <c:tx>
            <c:strRef>
              <c:f>Sheet1!$B$1</c:f>
              <c:strCache>
                <c:ptCount val="1"/>
                <c:pt idx="0">
                  <c:v>Coefficient</c:v>
                </c:pt>
              </c:strCache>
            </c:strRef>
          </c:tx>
          <c:spPr>
            <a:solidFill>
              <a:srgbClr val="2E86AB"/>
            </a:solidFill>
            <a:effectLst/>
          </c:spPr>
          <c:invertIfNegative val="0"/>
          <c:dLbls>
            <c:numFmt formatCode="0.00" sourceLinked="0"/>
            <c:txPr>
              <a:bodyPr/>
              <a:lstStyle/>
              <a:p>
                <a:pPr>
                  <a:defRPr b="0" i="0" strike="noStrike" sz="1100" u="none">
                    <a:solidFill>
                      <a:srgbClr val="12263A"/>
                    </a:solidFill>
                    <a:latin typeface="Calibri"/>
                  </a:defRPr>
                </a:pPr>
              </a:p>
            </c:txPr>
            <c:showLegendKey val="0"/>
            <c:showVal val="1"/>
            <c:showCatName val="0"/>
            <c:showSerName val="0"/>
            <c:showPercent val="0"/>
            <c:showBubbleSize val="0"/>
            <c:showLeaderLines val="0"/>
          </c:dLbls>
          <c:dPt>
            <c:idx val="0"/>
            <c:invertIfNegative val="0"/>
            <c:bubble3D val="0"/>
            <c:spPr>
              <a:solidFill>
                <a:srgbClr val="2E86AB"/>
              </a:solidFill>
              <a:effectLst/>
            </c:spPr>
          </c:dPt>
          <c:dPt>
            <c:idx val="1"/>
            <c:invertIfNegative val="0"/>
            <c:bubble3D val="0"/>
            <c:spPr>
              <a:solidFill>
                <a:srgbClr val="2E86AB"/>
              </a:solidFill>
              <a:effectLst/>
            </c:spPr>
          </c:dPt>
          <c:dPt>
            <c:idx val="2"/>
            <c:invertIfNegative val="0"/>
            <c:bubble3D val="0"/>
            <c:spPr>
              <a:solidFill>
                <a:srgbClr val="2E86AB"/>
              </a:solidFill>
              <a:effectLst/>
            </c:spPr>
          </c:dPt>
          <c:dPt>
            <c:idx val="3"/>
            <c:invertIfNegative val="0"/>
            <c:bubble3D val="0"/>
            <c:spPr>
              <a:solidFill>
                <a:srgbClr val="2E86AB"/>
              </a:solidFill>
              <a:effectLst/>
            </c:spPr>
          </c:dPt>
          <c:dPt>
            <c:idx val="4"/>
            <c:invertIfNegative val="0"/>
            <c:bubble3D val="0"/>
            <c:spPr>
              <a:solidFill>
                <a:srgbClr val="2E86AB"/>
              </a:solidFill>
              <a:effectLst/>
            </c:spPr>
          </c:dPt>
          <c:dPt>
            <c:idx val="5"/>
            <c:invertIfNegative val="0"/>
            <c:bubble3D val="0"/>
            <c:spPr>
              <a:solidFill>
                <a:srgbClr val="E4572E"/>
              </a:solidFill>
              <a:effectLst/>
            </c:spPr>
          </c:dPt>
          <c:dPt>
            <c:idx val="6"/>
            <c:invertIfNegative val="0"/>
            <c:bubble3D val="0"/>
            <c:spPr>
              <a:solidFill>
                <a:srgbClr val="2E86AB"/>
              </a:solidFill>
              <a:effectLst/>
            </c:spPr>
          </c:dPt>
          <c:dPt>
            <c:idx val="7"/>
            <c:invertIfNegative val="0"/>
            <c:bubble3D val="0"/>
            <c:spPr>
              <a:solidFill>
                <a:srgbClr val="2E86AB"/>
              </a:solidFill>
              <a:effectLst/>
            </c:spPr>
          </c:dPt>
          <c:cat>
            <c:multiLvlStrRef>
              <c:f>Sheet1!$A$2:$A$9</c:f>
              <c:multiLvlStrCache>
                <c:ptCount val="8"/>
                <c:lvl>
                  <c:pt idx="0">
                    <c:v>OnlineSecurity=Yes</c:v>
                  </c:pt>
                  <c:pt idx="1">
                    <c:v>TechSupport=Yes</c:v>
                  </c:pt>
                  <c:pt idx="2">
                    <c:v>PaperlessBilling=No</c:v>
                  </c:pt>
                  <c:pt idx="3">
                    <c:v>MultipleLines=No</c:v>
                  </c:pt>
                  <c:pt idx="4">
                    <c:v>PhoneService=Yes</c:v>
                  </c:pt>
                  <c:pt idx="5">
                    <c:v>Month-to-month contract</c:v>
                  </c:pt>
                  <c:pt idx="6">
                    <c:v>Two-year contract</c:v>
                  </c:pt>
                  <c:pt idx="7">
                    <c:v>tenure</c:v>
                  </c:pt>
                </c:lvl>
              </c:multiLvlStrCache>
            </c:multiLvlStrRef>
          </c:cat>
          <c:val>
            <c:numRef>
              <c:f>Sheet1!$B$2:$B$9</c:f>
              <c:numCache>
                <c:formatCode>General</c:formatCode>
                <c:ptCount val="8"/>
                <c:pt idx="0">
                  <c:v>-0.29</c:v>
                </c:pt>
                <c:pt idx="1">
                  <c:v>-0.3</c:v>
                </c:pt>
                <c:pt idx="2">
                  <c:v>-0.31</c:v>
                </c:pt>
                <c:pt idx="3">
                  <c:v>-0.32</c:v>
                </c:pt>
                <c:pt idx="4">
                  <c:v>-0.34</c:v>
                </c:pt>
                <c:pt idx="5">
                  <c:v>0.56</c:v>
                </c:pt>
                <c:pt idx="6">
                  <c:v>-0.71</c:v>
                </c:pt>
                <c:pt idx="7">
                  <c:v>-0.84</c:v>
                </c:pt>
              </c:numCache>
            </c:numRef>
          </c:val>
        </c:ser>
        <c:dLbls>
          <c:numFmt formatCode="0.00" sourceLinked="0"/>
          <c:txPr>
            <a:bodyPr/>
            <a:lstStyle/>
            <a:p>
              <a:pPr>
                <a:defRPr b="0" i="0" strike="noStrike" sz="1100" u="none">
                  <a:solidFill>
                    <a:srgbClr val="1226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63A"/>
                </a:solidFill>
                <a:latin typeface="Calibri"/>
              </a:defRPr>
            </a:pPr>
            <a:endParaRPr lang="en-US"/>
          </a:p>
        </c:txPr>
        <c:crossAx val="2094734552"/>
        <c:crosses val="autoZero"/>
        <c:auto val="1"/>
        <c:lblAlgn val="ctr"/>
        <c:noMultiLvlLbl val="1"/>
      </c:catAx>
      <c:valAx>
        <c:axId val="2094734552"/>
        <c:scaling>
          <c:orientation val="minMax"/>
          <c:max val="0.9"/>
          <c:min val="-1.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2263A"/>
                </a:solidFill>
                <a:latin typeface="Calibri"/>
              </a:defRPr>
            </a:pPr>
            <a:r>
              <a:rPr sz="1200" b="0" i="0" u="none" strike="noStrike">
                <a:solidFill>
                  <a:srgbClr val="12263A"/>
                </a:solidFill>
                <a:latin typeface="Calibri"/>
              </a:rPr>
              <a:t>Test ROC-AUC (0.5 = chance)</a:t>
            </a:r>
          </a:p>
        </c:rich>
      </c:tx>
      <c:layout/>
      <c:overlay val="0"/>
    </c:title>
    <c:autoTitleDeleted val="0"/>
    <c:plotArea>
      <c:layout/>
      <c:barChart>
        <c:barDir val="bar"/>
        <c:grouping val="clustered"/>
        <c:varyColors val="0"/>
        <c:ser>
          <c:idx val="0"/>
          <c:order val="0"/>
          <c:tx>
            <c:strRef>
              <c:f>Sheet1!$B$1</c:f>
              <c:strCache>
                <c:ptCount val="1"/>
                <c:pt idx="0">
                  <c:v>Test AUC</c:v>
                </c:pt>
              </c:strCache>
            </c:strRef>
          </c:tx>
          <c:spPr>
            <a:solidFill>
              <a:srgbClr val="2E86AB"/>
            </a:solidFill>
            <a:effectLst/>
          </c:spPr>
          <c:invertIfNegative val="0"/>
          <c:dLbls>
            <c:numFmt formatCode="0.000" sourceLinked="0"/>
            <c:txPr>
              <a:bodyPr/>
              <a:lstStyle/>
              <a:p>
                <a:pPr>
                  <a:defRPr b="0" i="0" strike="noStrike" sz="1100" u="none">
                    <a:solidFill>
                      <a:srgbClr val="12263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Logistic Regression</c:v>
                  </c:pt>
                  <c:pt idx="1">
                    <c:v>KNN</c:v>
                  </c:pt>
                  <c:pt idx="2">
                    <c:v>G. Naive Bayes</c:v>
                  </c:pt>
                  <c:pt idx="3">
                    <c:v>Decision Tree</c:v>
                  </c:pt>
                </c:lvl>
              </c:multiLvlStrCache>
            </c:multiLvlStrRef>
          </c:cat>
          <c:val>
            <c:numRef>
              <c:f>Sheet1!$B$2:$B$5</c:f>
              <c:numCache>
                <c:formatCode>General</c:formatCode>
                <c:ptCount val="4"/>
                <c:pt idx="0">
                  <c:v>0.849</c:v>
                </c:pt>
                <c:pt idx="1">
                  <c:v>0.839</c:v>
                </c:pt>
                <c:pt idx="2">
                  <c:v>0.824</c:v>
                </c:pt>
                <c:pt idx="3">
                  <c:v>0.811</c:v>
                </c:pt>
              </c:numCache>
            </c:numRef>
          </c:val>
        </c:ser>
        <c:dLbls>
          <c:numFmt formatCode="0.000" sourceLinked="0"/>
          <c:txPr>
            <a:bodyPr/>
            <a:lstStyle/>
            <a:p>
              <a:pPr>
                <a:defRPr b="0" i="0" strike="noStrike" sz="1100" u="none">
                  <a:solidFill>
                    <a:srgbClr val="12263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2263A"/>
                </a:solidFill>
                <a:latin typeface="Calibri"/>
              </a:defRPr>
            </a:pPr>
            <a:endParaRPr lang="en-US"/>
          </a:p>
        </c:txPr>
        <c:crossAx val="2094734552"/>
        <c:crosses val="autoZero"/>
        <c:auto val="1"/>
        <c:lblAlgn val="ctr"/>
        <c:noMultiLvlLbl val="1"/>
      </c:catAx>
      <c:valAx>
        <c:axId val="2094734552"/>
        <c:scaling>
          <c:orientation val="minMax"/>
          <c:max val="1"/>
          <c:min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ChurnIQ predicts which telecom customers are likely to leave. Every model and metric is implemented from scratch with NumPy, and a Streamlit app lets you change parameters and predict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always says 'stays' is 73.5% accurate but useless, so we judge models with precision, recall and AUC rather than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five flat Python files. Each file maps to one stage of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Month-to-month contracts churn at 43% versus under 3% for two-year contracts. Churn drops steadily with tenure. These are associations, not proven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statistics (median, mean, std, categories) are learned on the training rows only and reused unchanged for validation, test and new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derivations are in MATH_INTUITION.md. Every model exposes fit and predict_proba so the app can swap them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gradient is simply features times prediction error. L2 regularisation adds lambda/m times w to shrink weights and reduce overfitting.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 regression also wins on F1 and is the easiest to interpret, so it is the default model in the app. Differences of about 0.01 AUC are within noise on about 1,000 test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ROC curve sweeps the decision threshold. The area under it, computed with the trapezoid rule, is the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big gap between training and validation AUC means high variance, i.e. overfitting. Choose the setting where validation AUC 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is always chosen on validation data, never on the test set. The recall constraint turns a business requirement into the cheapest cut-off that satisfies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K-means never sees the churn label. Churn rate is computed afterwards to describe each segment. The newer mid-bill group churns at 44%, so it is the retention priority.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retrains instantly when parameters change, and results are cached. Run it with: streamlit run 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a human in the loop for any consequential action based on a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k title"/>
          <p:cNvSpPr txBox="1"/>
          <p:nvPr/>
        </p:nvSpPr>
        <p:spPr>
          <a:xfrm>
            <a:off x="548640" y="1097280"/>
            <a:ext cx="4754880" cy="1005840"/>
          </a:xfrm>
          <a:prstGeom prst="rect">
            <a:avLst/>
          </a:prstGeom>
          <a:noFill/>
          <a:ln/>
        </p:spPr>
        <p:txBody>
          <a:bodyPr wrap="square" lIns="0" tIns="0" rIns="0" bIns="0" rtlCol="0" anchor="ctr"/>
          <a:lstStyle/>
          <a:p>
            <a:pPr indent="0" marL="0">
              <a:buNone/>
            </a:pPr>
            <a:r>
              <a:rPr lang="en-US" sz="6000" b="1" dirty="0">
                <a:solidFill>
                  <a:schemeClr val="bg1"/>
                </a:solidFill>
                <a:latin typeface="Cambria" pitchFamily="34" charset="0"/>
                <a:ea typeface="Cambria" pitchFamily="34" charset="-122"/>
                <a:cs typeface="Cambria" pitchFamily="34" charset="-120"/>
              </a:rPr>
              <a:t>ChurnIQ</a:t>
            </a:r>
            <a:endParaRPr lang="en-US" sz="6000" dirty="0"/>
          </a:p>
        </p:txBody>
      </p:sp>
      <p:sp>
        <p:nvSpPr>
          <p:cNvPr id="3" name="Subtitle"/>
          <p:cNvSpPr txBox="1"/>
          <p:nvPr/>
        </p:nvSpPr>
        <p:spPr>
          <a:xfrm>
            <a:off x="548640" y="2194560"/>
            <a:ext cx="4572000" cy="914400"/>
          </a:xfrm>
          <a:prstGeom prst="rect">
            <a:avLst/>
          </a:prstGeom>
          <a:noFill/>
          <a:ln/>
        </p:spPr>
        <p:txBody>
          <a:bodyPr wrap="square" lIns="0" tIns="0" rIns="0" bIns="0" rtlCol="0" anchor="ctr"/>
          <a:lstStyle/>
          <a:p>
            <a:pPr indent="0" marL="0">
              <a:buNone/>
            </a:pPr>
            <a:r>
              <a:rPr lang="en-US" sz="2000" dirty="0">
                <a:solidFill>
                  <a:schemeClr val="bg2"/>
                </a:solidFill>
              </a:rPr>
              <a:t>Predicting telecom customer churn with machine learning written from scratch</a:t>
            </a:r>
            <a:endParaRPr lang="en-US" sz="2000" dirty="0"/>
          </a:p>
        </p:txBody>
      </p:sp>
      <p:sp>
        <p:nvSpPr>
          <p:cNvPr id="4" name="Tagline"/>
          <p:cNvSpPr txBox="1"/>
          <p:nvPr/>
        </p:nvSpPr>
        <p:spPr>
          <a:xfrm>
            <a:off x="548640" y="4206240"/>
            <a:ext cx="4572000" cy="365760"/>
          </a:xfrm>
          <a:prstGeom prst="rect">
            <a:avLst/>
          </a:prstGeom>
          <a:noFill/>
          <a:ln/>
        </p:spPr>
        <p:txBody>
          <a:bodyPr wrap="square" lIns="0" tIns="0" rIns="0" bIns="0" rtlCol="0" anchor="ctr"/>
          <a:lstStyle/>
          <a:p>
            <a:pPr indent="0" marL="0">
              <a:buNone/>
            </a:pPr>
            <a:r>
              <a:rPr lang="en-US" sz="1400" dirty="0">
                <a:solidFill>
                  <a:schemeClr val="accent3"/>
                </a:solidFill>
              </a:rPr>
              <a:t>ML Lab Project  ·  NumPy  ·  Streamlit</a:t>
            </a:r>
            <a:endParaRPr lang="en-US" sz="1400" dirty="0"/>
          </a:p>
        </p:txBody>
      </p:sp>
      <p:sp>
        <p:nvSpPr>
          <p:cNvPr id="5" name="Stat circle 1"/>
          <p:cNvSpPr/>
          <p:nvPr/>
        </p:nvSpPr>
        <p:spPr>
          <a:xfrm>
            <a:off x="5760720" y="822960"/>
            <a:ext cx="1051560" cy="1051560"/>
          </a:xfrm>
          <a:prstGeom prst="ellipse">
            <a:avLst/>
          </a:prstGeom>
          <a:solidFill>
            <a:schemeClr val="accent1"/>
          </a:solidFill>
          <a:ln w="12700">
            <a:solidFill>
              <a:schemeClr val="accent1"/>
            </a:solidFill>
            <a:prstDash val="solid"/>
          </a:ln>
        </p:spPr>
      </p:sp>
      <p:sp>
        <p:nvSpPr>
          <p:cNvPr id="6" name="Stat value 1"/>
          <p:cNvSpPr txBox="1"/>
          <p:nvPr/>
        </p:nvSpPr>
        <p:spPr>
          <a:xfrm>
            <a:off x="5760720" y="822960"/>
            <a:ext cx="1051560" cy="1051560"/>
          </a:xfrm>
          <a:prstGeom prst="rect">
            <a:avLst/>
          </a:prstGeom>
          <a:noFill/>
          <a:ln/>
        </p:spPr>
        <p:txBody>
          <a:bodyPr wrap="square" lIns="0" tIns="0" rIns="0" bIns="0" rtlCol="0" anchor="ctr"/>
          <a:lstStyle/>
          <a:p>
            <a:pPr algn="ctr" indent="0" marL="0">
              <a:buNone/>
            </a:pPr>
            <a:r>
              <a:rPr lang="en-US" sz="1700" b="1" dirty="0">
                <a:solidFill>
                  <a:schemeClr val="tx1"/>
                </a:solidFill>
              </a:rPr>
              <a:t>7,043</a:t>
            </a:r>
            <a:endParaRPr lang="en-US" sz="1700" dirty="0"/>
          </a:p>
        </p:txBody>
      </p:sp>
      <p:sp>
        <p:nvSpPr>
          <p:cNvPr id="7" name="Stat label 1"/>
          <p:cNvSpPr txBox="1"/>
          <p:nvPr/>
        </p:nvSpPr>
        <p:spPr>
          <a:xfrm>
            <a:off x="6949440" y="822960"/>
            <a:ext cx="1828800" cy="1051560"/>
          </a:xfrm>
          <a:prstGeom prst="rect">
            <a:avLst/>
          </a:prstGeom>
          <a:noFill/>
          <a:ln/>
        </p:spPr>
        <p:txBody>
          <a:bodyPr wrap="square" lIns="0" tIns="0" rIns="0" bIns="0" rtlCol="0" anchor="ctr"/>
          <a:lstStyle/>
          <a:p>
            <a:pPr indent="0" marL="0">
              <a:buNone/>
            </a:pPr>
            <a:r>
              <a:rPr lang="en-US" sz="1600" dirty="0">
                <a:solidFill>
                  <a:schemeClr val="bg1"/>
                </a:solidFill>
              </a:rPr>
              <a:t>customers analysed</a:t>
            </a:r>
            <a:endParaRPr lang="en-US" sz="1600" dirty="0"/>
          </a:p>
        </p:txBody>
      </p:sp>
      <p:sp>
        <p:nvSpPr>
          <p:cNvPr id="8" name="Stat circle 2"/>
          <p:cNvSpPr/>
          <p:nvPr/>
        </p:nvSpPr>
        <p:spPr>
          <a:xfrm>
            <a:off x="5760720" y="2103120"/>
            <a:ext cx="1051560" cy="1051560"/>
          </a:xfrm>
          <a:prstGeom prst="ellipse">
            <a:avLst/>
          </a:prstGeom>
          <a:solidFill>
            <a:schemeClr val="accent2"/>
          </a:solidFill>
          <a:ln w="12700">
            <a:solidFill>
              <a:schemeClr val="accent2"/>
            </a:solidFill>
            <a:prstDash val="solid"/>
          </a:ln>
        </p:spPr>
      </p:sp>
      <p:sp>
        <p:nvSpPr>
          <p:cNvPr id="9" name="Stat value 2"/>
          <p:cNvSpPr txBox="1"/>
          <p:nvPr/>
        </p:nvSpPr>
        <p:spPr>
          <a:xfrm>
            <a:off x="5760720" y="2103120"/>
            <a:ext cx="1051560" cy="1051560"/>
          </a:xfrm>
          <a:prstGeom prst="rect">
            <a:avLst/>
          </a:prstGeom>
          <a:noFill/>
          <a:ln/>
        </p:spPr>
        <p:txBody>
          <a:bodyPr wrap="square" lIns="0" tIns="0" rIns="0" bIns="0" rtlCol="0" anchor="ctr"/>
          <a:lstStyle/>
          <a:p>
            <a:pPr algn="ctr" indent="0" marL="0">
              <a:buNone/>
            </a:pPr>
            <a:r>
              <a:rPr lang="en-US" sz="1700" b="1" dirty="0">
                <a:solidFill>
                  <a:schemeClr val="tx1"/>
                </a:solidFill>
              </a:rPr>
              <a:t>26.5%</a:t>
            </a:r>
            <a:endParaRPr lang="en-US" sz="1700" dirty="0"/>
          </a:p>
        </p:txBody>
      </p:sp>
      <p:sp>
        <p:nvSpPr>
          <p:cNvPr id="10" name="Stat label 2"/>
          <p:cNvSpPr txBox="1"/>
          <p:nvPr/>
        </p:nvSpPr>
        <p:spPr>
          <a:xfrm>
            <a:off x="6949440" y="2103120"/>
            <a:ext cx="1828800" cy="1051560"/>
          </a:xfrm>
          <a:prstGeom prst="rect">
            <a:avLst/>
          </a:prstGeom>
          <a:noFill/>
          <a:ln/>
        </p:spPr>
        <p:txBody>
          <a:bodyPr wrap="square" lIns="0" tIns="0" rIns="0" bIns="0" rtlCol="0" anchor="ctr"/>
          <a:lstStyle/>
          <a:p>
            <a:pPr indent="0" marL="0">
              <a:buNone/>
            </a:pPr>
            <a:r>
              <a:rPr lang="en-US" sz="1600" dirty="0">
                <a:solidFill>
                  <a:schemeClr val="bg1"/>
                </a:solidFill>
              </a:rPr>
              <a:t>churn rate</a:t>
            </a:r>
            <a:endParaRPr lang="en-US" sz="1600" dirty="0"/>
          </a:p>
        </p:txBody>
      </p:sp>
      <p:sp>
        <p:nvSpPr>
          <p:cNvPr id="11" name="Stat circle 3"/>
          <p:cNvSpPr/>
          <p:nvPr/>
        </p:nvSpPr>
        <p:spPr>
          <a:xfrm>
            <a:off x="5760720" y="3383280"/>
            <a:ext cx="1051560" cy="1051560"/>
          </a:xfrm>
          <a:prstGeom prst="ellipse">
            <a:avLst/>
          </a:prstGeom>
          <a:solidFill>
            <a:schemeClr val="accent3"/>
          </a:solidFill>
          <a:ln w="12700">
            <a:solidFill>
              <a:schemeClr val="accent3"/>
            </a:solidFill>
            <a:prstDash val="solid"/>
          </a:ln>
        </p:spPr>
      </p:sp>
      <p:sp>
        <p:nvSpPr>
          <p:cNvPr id="12" name="Stat value 3"/>
          <p:cNvSpPr txBox="1"/>
          <p:nvPr/>
        </p:nvSpPr>
        <p:spPr>
          <a:xfrm>
            <a:off x="5760720" y="3383280"/>
            <a:ext cx="1051560" cy="1051560"/>
          </a:xfrm>
          <a:prstGeom prst="rect">
            <a:avLst/>
          </a:prstGeom>
          <a:noFill/>
          <a:ln/>
        </p:spPr>
        <p:txBody>
          <a:bodyPr wrap="square" lIns="0" tIns="0" rIns="0" bIns="0" rtlCol="0" anchor="ctr"/>
          <a:lstStyle/>
          <a:p>
            <a:pPr algn="ctr" indent="0" marL="0">
              <a:buNone/>
            </a:pPr>
            <a:r>
              <a:rPr lang="en-US" sz="2400" b="1" dirty="0">
                <a:solidFill>
                  <a:schemeClr val="tx1"/>
                </a:solidFill>
              </a:rPr>
              <a:t>6</a:t>
            </a:r>
            <a:endParaRPr lang="en-US" sz="2400" dirty="0"/>
          </a:p>
        </p:txBody>
      </p:sp>
      <p:sp>
        <p:nvSpPr>
          <p:cNvPr id="13" name="Stat label 3"/>
          <p:cNvSpPr txBox="1"/>
          <p:nvPr/>
        </p:nvSpPr>
        <p:spPr>
          <a:xfrm>
            <a:off x="6949440" y="3383280"/>
            <a:ext cx="1828800" cy="1051560"/>
          </a:xfrm>
          <a:prstGeom prst="rect">
            <a:avLst/>
          </a:prstGeom>
          <a:noFill/>
          <a:ln/>
        </p:spPr>
        <p:txBody>
          <a:bodyPr wrap="square" lIns="0" tIns="0" rIns="0" bIns="0" rtlCol="0" anchor="ctr"/>
          <a:lstStyle/>
          <a:p>
            <a:pPr indent="0" marL="0">
              <a:buNone/>
            </a:pPr>
            <a:r>
              <a:rPr lang="en-US" sz="1600" dirty="0">
                <a:solidFill>
                  <a:schemeClr val="bg1"/>
                </a:solidFill>
              </a:rPr>
              <a:t>algorithms from scratch</a:t>
            </a:r>
            <a:endParaRPr lang="en-US" sz="1600" dirty="0"/>
          </a:p>
        </p:txBody>
      </p:sp>
      <p:sp>
        <p:nvSpPr>
          <p:cNvPr id="15"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Why customer churn matters</a:t>
            </a:r>
            <a:endParaRPr lang="en-US" sz="3000" dirty="0"/>
          </a:p>
        </p:txBody>
      </p:sp>
      <p:sp>
        <p:nvSpPr>
          <p:cNvPr id="3" name="Problem circle"/>
          <p:cNvSpPr/>
          <p:nvPr/>
        </p:nvSpPr>
        <p:spPr>
          <a:xfrm>
            <a:off x="457200" y="1325880"/>
            <a:ext cx="640080" cy="640080"/>
          </a:xfrm>
          <a:prstGeom prst="ellipse">
            <a:avLst/>
          </a:prstGeom>
          <a:solidFill>
            <a:schemeClr val="accent1"/>
          </a:solidFill>
          <a:ln w="12700">
            <a:solidFill>
              <a:schemeClr val="accent1"/>
            </a:solidFill>
            <a:prstDash val="solid"/>
          </a:ln>
        </p:spPr>
      </p:sp>
      <p:pic>
        <p:nvPicPr>
          <p:cNvPr id="4" name="Problem icon" descr="Problem">    </p:cNvPr>
          <p:cNvPicPr>
            <a:picLocks noChangeAspect="1"/>
          </p:cNvPicPr>
          <p:nvPr/>
        </p:nvPicPr>
        <p:blipFill>
          <a:blip r:embed="rId1"/>
          <a:stretch>
            <a:fillRect/>
          </a:stretch>
        </p:blipFill>
        <p:spPr>
          <a:xfrm>
            <a:off x="630022" y="1498702"/>
            <a:ext cx="294437" cy="294437"/>
          </a:xfrm>
          <a:prstGeom prst="rect">
            <a:avLst/>
          </a:prstGeom>
        </p:spPr>
      </p:pic>
      <p:sp>
        <p:nvSpPr>
          <p:cNvPr id="5" name="Problem text"/>
          <p:cNvSpPr txBox="1"/>
          <p:nvPr/>
        </p:nvSpPr>
        <p:spPr>
          <a:xfrm>
            <a:off x="1280160" y="1234440"/>
            <a:ext cx="3840480" cy="914400"/>
          </a:xfrm>
          <a:prstGeom prst="rect">
            <a:avLst/>
          </a:prstGeom>
          <a:noFill/>
          <a:ln/>
        </p:spPr>
        <p:txBody>
          <a:bodyPr wrap="square" lIns="0" tIns="0" rIns="0" bIns="0" rtlCol="0" anchor="ctr"/>
          <a:lstStyle/>
          <a:p>
            <a:pPr indent="0" marL="0">
              <a:buNone/>
            </a:pPr>
            <a:r>
              <a:rPr lang="en-US" sz="1800" b="1" dirty="0">
                <a:solidFill>
                  <a:schemeClr val="tx1"/>
                </a:solidFill>
              </a:rPr>
              <a:t>Problem</a:t>
            </a:r>
            <a:endParaRPr lang="en-US" sz="1800" dirty="0"/>
          </a:p>
          <a:p>
            <a:pPr indent="0" marL="0">
              <a:buNone/>
            </a:pPr>
            <a:r>
              <a:rPr lang="en-US" sz="1400" dirty="0">
                <a:solidFill>
                  <a:schemeClr val="tx1"/>
                </a:solidFill>
              </a:rPr>
              <a:t>Customers leave, and each loss is lost recurring revenue. Only about 1 in 4 customers churns, so finding them is hard.</a:t>
            </a:r>
            <a:endParaRPr lang="en-US" sz="1800" dirty="0"/>
          </a:p>
        </p:txBody>
      </p:sp>
      <p:sp>
        <p:nvSpPr>
          <p:cNvPr id="6" name="Goal circle"/>
          <p:cNvSpPr/>
          <p:nvPr/>
        </p:nvSpPr>
        <p:spPr>
          <a:xfrm>
            <a:off x="457200" y="2423160"/>
            <a:ext cx="640080" cy="640080"/>
          </a:xfrm>
          <a:prstGeom prst="ellipse">
            <a:avLst/>
          </a:prstGeom>
          <a:solidFill>
            <a:schemeClr val="accent1"/>
          </a:solidFill>
          <a:ln w="12700">
            <a:solidFill>
              <a:schemeClr val="accent1"/>
            </a:solidFill>
            <a:prstDash val="solid"/>
          </a:ln>
        </p:spPr>
      </p:sp>
      <p:pic>
        <p:nvPicPr>
          <p:cNvPr id="7" name="Goal icon" descr="Goal">    </p:cNvPr>
          <p:cNvPicPr>
            <a:picLocks noChangeAspect="1"/>
          </p:cNvPicPr>
          <p:nvPr/>
        </p:nvPicPr>
        <p:blipFill>
          <a:blip r:embed="rId2"/>
          <a:stretch>
            <a:fillRect/>
          </a:stretch>
        </p:blipFill>
        <p:spPr>
          <a:xfrm>
            <a:off x="630022" y="2595982"/>
            <a:ext cx="294437" cy="294437"/>
          </a:xfrm>
          <a:prstGeom prst="rect">
            <a:avLst/>
          </a:prstGeom>
        </p:spPr>
      </p:pic>
      <p:sp>
        <p:nvSpPr>
          <p:cNvPr id="8" name="Goal text"/>
          <p:cNvSpPr txBox="1"/>
          <p:nvPr/>
        </p:nvSpPr>
        <p:spPr>
          <a:xfrm>
            <a:off x="1280160" y="2331720"/>
            <a:ext cx="3840480" cy="914400"/>
          </a:xfrm>
          <a:prstGeom prst="rect">
            <a:avLst/>
          </a:prstGeom>
          <a:noFill/>
          <a:ln/>
        </p:spPr>
        <p:txBody>
          <a:bodyPr wrap="square" lIns="0" tIns="0" rIns="0" bIns="0" rtlCol="0" anchor="ctr"/>
          <a:lstStyle/>
          <a:p>
            <a:pPr indent="0" marL="0">
              <a:buNone/>
            </a:pPr>
            <a:r>
              <a:rPr lang="en-US" sz="1800" b="1" dirty="0">
                <a:solidFill>
                  <a:schemeClr val="tx1"/>
                </a:solidFill>
              </a:rPr>
              <a:t>Goal</a:t>
            </a:r>
            <a:endParaRPr lang="en-US" sz="1800" dirty="0"/>
          </a:p>
          <a:p>
            <a:pPr indent="0" marL="0">
              <a:buNone/>
            </a:pPr>
            <a:r>
              <a:rPr lang="en-US" sz="1400" dirty="0">
                <a:solidFill>
                  <a:schemeClr val="tx1"/>
                </a:solidFill>
              </a:rPr>
              <a:t>Estimate each customer's churn probability, find what drives it, and group customers into segments.</a:t>
            </a:r>
            <a:endParaRPr lang="en-US" sz="1800" dirty="0"/>
          </a:p>
        </p:txBody>
      </p:sp>
      <p:sp>
        <p:nvSpPr>
          <p:cNvPr id="9" name="Approach circle"/>
          <p:cNvSpPr/>
          <p:nvPr/>
        </p:nvSpPr>
        <p:spPr>
          <a:xfrm>
            <a:off x="457200" y="3520440"/>
            <a:ext cx="640080" cy="640080"/>
          </a:xfrm>
          <a:prstGeom prst="ellipse">
            <a:avLst/>
          </a:prstGeom>
          <a:solidFill>
            <a:schemeClr val="accent1"/>
          </a:solidFill>
          <a:ln w="12700">
            <a:solidFill>
              <a:schemeClr val="accent1"/>
            </a:solidFill>
            <a:prstDash val="solid"/>
          </a:ln>
        </p:spPr>
      </p:sp>
      <p:pic>
        <p:nvPicPr>
          <p:cNvPr id="10" name="Approach icon" descr="Approach">    </p:cNvPr>
          <p:cNvPicPr>
            <a:picLocks noChangeAspect="1"/>
          </p:cNvPicPr>
          <p:nvPr/>
        </p:nvPicPr>
        <p:blipFill>
          <a:blip r:embed="rId3"/>
          <a:stretch>
            <a:fillRect/>
          </a:stretch>
        </p:blipFill>
        <p:spPr>
          <a:xfrm>
            <a:off x="630022" y="3693262"/>
            <a:ext cx="294437" cy="294437"/>
          </a:xfrm>
          <a:prstGeom prst="rect">
            <a:avLst/>
          </a:prstGeom>
        </p:spPr>
      </p:pic>
      <p:sp>
        <p:nvSpPr>
          <p:cNvPr id="11" name="Approach text"/>
          <p:cNvSpPr txBox="1"/>
          <p:nvPr/>
        </p:nvSpPr>
        <p:spPr>
          <a:xfrm>
            <a:off x="1280160" y="3429000"/>
            <a:ext cx="3840480" cy="914400"/>
          </a:xfrm>
          <a:prstGeom prst="rect">
            <a:avLst/>
          </a:prstGeom>
          <a:noFill/>
          <a:ln/>
        </p:spPr>
        <p:txBody>
          <a:bodyPr wrap="square" lIns="0" tIns="0" rIns="0" bIns="0" rtlCol="0" anchor="ctr"/>
          <a:lstStyle/>
          <a:p>
            <a:pPr indent="0" marL="0">
              <a:buNone/>
            </a:pPr>
            <a:r>
              <a:rPr lang="en-US" sz="1800" b="1" dirty="0">
                <a:solidFill>
                  <a:schemeClr val="tx1"/>
                </a:solidFill>
              </a:rPr>
              <a:t>Approach</a:t>
            </a:r>
            <a:endParaRPr lang="en-US" sz="1800" dirty="0"/>
          </a:p>
          <a:p>
            <a:pPr indent="0" marL="0">
              <a:buNone/>
            </a:pPr>
            <a:r>
              <a:rPr lang="en-US" sz="1400" dirty="0">
                <a:solidFill>
                  <a:schemeClr val="tx1"/>
                </a:solidFill>
              </a:rPr>
              <a:t>Binary classification with four models and K-means, all written in NumPy with no scikit-learn.</a:t>
            </a:r>
            <a:endParaRPr lang="en-US" sz="1800" dirty="0"/>
          </a:p>
        </p:txBody>
      </p:sp>
      <p:sp>
        <p:nvSpPr>
          <p:cNvPr id="12" name="Stat card 1"/>
          <p:cNvSpPr/>
          <p:nvPr/>
        </p:nvSpPr>
        <p:spPr>
          <a:xfrm>
            <a:off x="5486400" y="1234440"/>
            <a:ext cx="1600200" cy="1508760"/>
          </a:xfrm>
          <a:prstGeom prst="roundRect">
            <a:avLst>
              <a:gd name="adj" fmla="val 4848"/>
            </a:avLst>
          </a:prstGeom>
          <a:solidFill>
            <a:schemeClr val="bg2"/>
          </a:solidFill>
          <a:ln w="12700">
            <a:solidFill>
              <a:schemeClr val="bg2"/>
            </a:solidFill>
            <a:prstDash val="solid"/>
          </a:ln>
        </p:spPr>
      </p:sp>
      <p:sp>
        <p:nvSpPr>
          <p:cNvPr id="13" name="Stat number 1"/>
          <p:cNvSpPr txBox="1"/>
          <p:nvPr/>
        </p:nvSpPr>
        <p:spPr>
          <a:xfrm>
            <a:off x="5486400" y="1417320"/>
            <a:ext cx="1600200" cy="640080"/>
          </a:xfrm>
          <a:prstGeom prst="rect">
            <a:avLst/>
          </a:prstGeom>
          <a:noFill/>
          <a:ln/>
        </p:spPr>
        <p:txBody>
          <a:bodyPr wrap="square" lIns="0" tIns="0" rIns="0" bIns="0" rtlCol="0" anchor="ctr"/>
          <a:lstStyle/>
          <a:p>
            <a:pPr algn="ctr" indent="0" marL="0">
              <a:buNone/>
            </a:pPr>
            <a:r>
              <a:rPr lang="en-US" sz="3000" b="1" dirty="0">
                <a:solidFill>
                  <a:schemeClr val="accent1"/>
                </a:solidFill>
              </a:rPr>
              <a:t>7,043</a:t>
            </a:r>
            <a:endParaRPr lang="en-US" sz="3000" dirty="0"/>
          </a:p>
        </p:txBody>
      </p:sp>
      <p:sp>
        <p:nvSpPr>
          <p:cNvPr id="14" name="Stat caption 1"/>
          <p:cNvSpPr txBox="1"/>
          <p:nvPr/>
        </p:nvSpPr>
        <p:spPr>
          <a:xfrm>
            <a:off x="5577840" y="2057400"/>
            <a:ext cx="1417320" cy="594360"/>
          </a:xfrm>
          <a:prstGeom prst="rect">
            <a:avLst/>
          </a:prstGeom>
          <a:noFill/>
          <a:ln/>
        </p:spPr>
        <p:txBody>
          <a:bodyPr wrap="square" lIns="0" tIns="0" rIns="0" bIns="0" rtlCol="0" anchor="t"/>
          <a:lstStyle/>
          <a:p>
            <a:pPr algn="ctr" indent="0" marL="0">
              <a:buNone/>
            </a:pPr>
            <a:r>
              <a:rPr lang="en-US" sz="1200" dirty="0">
                <a:solidFill>
                  <a:schemeClr val="tx1"/>
                </a:solidFill>
              </a:rPr>
              <a:t>customers</a:t>
            </a:r>
            <a:endParaRPr lang="en-US" sz="1200" dirty="0"/>
          </a:p>
        </p:txBody>
      </p:sp>
      <p:sp>
        <p:nvSpPr>
          <p:cNvPr id="15" name="Stat card 2"/>
          <p:cNvSpPr/>
          <p:nvPr/>
        </p:nvSpPr>
        <p:spPr>
          <a:xfrm>
            <a:off x="7223760" y="1234440"/>
            <a:ext cx="1600200" cy="1508760"/>
          </a:xfrm>
          <a:prstGeom prst="roundRect">
            <a:avLst>
              <a:gd name="adj" fmla="val 4848"/>
            </a:avLst>
          </a:prstGeom>
          <a:solidFill>
            <a:schemeClr val="bg2"/>
          </a:solidFill>
          <a:ln w="12700">
            <a:solidFill>
              <a:schemeClr val="bg2"/>
            </a:solidFill>
            <a:prstDash val="solid"/>
          </a:ln>
        </p:spPr>
      </p:sp>
      <p:sp>
        <p:nvSpPr>
          <p:cNvPr id="16" name="Stat number 2"/>
          <p:cNvSpPr txBox="1"/>
          <p:nvPr/>
        </p:nvSpPr>
        <p:spPr>
          <a:xfrm>
            <a:off x="7223760" y="1417320"/>
            <a:ext cx="1600200" cy="640080"/>
          </a:xfrm>
          <a:prstGeom prst="rect">
            <a:avLst/>
          </a:prstGeom>
          <a:noFill/>
          <a:ln/>
        </p:spPr>
        <p:txBody>
          <a:bodyPr wrap="square" lIns="0" tIns="0" rIns="0" bIns="0" rtlCol="0" anchor="ctr"/>
          <a:lstStyle/>
          <a:p>
            <a:pPr algn="ctr" indent="0" marL="0">
              <a:buNone/>
            </a:pPr>
            <a:r>
              <a:rPr lang="en-US" sz="3000" b="1" dirty="0">
                <a:solidFill>
                  <a:schemeClr val="accent1"/>
                </a:solidFill>
              </a:rPr>
              <a:t>19</a:t>
            </a:r>
            <a:endParaRPr lang="en-US" sz="3000" dirty="0"/>
          </a:p>
        </p:txBody>
      </p:sp>
      <p:sp>
        <p:nvSpPr>
          <p:cNvPr id="17" name="Stat caption 2"/>
          <p:cNvSpPr txBox="1"/>
          <p:nvPr/>
        </p:nvSpPr>
        <p:spPr>
          <a:xfrm>
            <a:off x="7315200" y="2057400"/>
            <a:ext cx="1417320" cy="594360"/>
          </a:xfrm>
          <a:prstGeom prst="rect">
            <a:avLst/>
          </a:prstGeom>
          <a:noFill/>
          <a:ln/>
        </p:spPr>
        <p:txBody>
          <a:bodyPr wrap="square" lIns="0" tIns="0" rIns="0" bIns="0" rtlCol="0" anchor="t"/>
          <a:lstStyle/>
          <a:p>
            <a:pPr algn="ctr" indent="0" marL="0">
              <a:buNone/>
            </a:pPr>
            <a:r>
              <a:rPr lang="en-US" sz="1200" dirty="0">
                <a:solidFill>
                  <a:schemeClr val="tx1"/>
                </a:solidFill>
              </a:rPr>
              <a:t>features + 1 target</a:t>
            </a:r>
            <a:endParaRPr lang="en-US" sz="1200" dirty="0"/>
          </a:p>
        </p:txBody>
      </p:sp>
      <p:sp>
        <p:nvSpPr>
          <p:cNvPr id="18" name="Stat card 3"/>
          <p:cNvSpPr/>
          <p:nvPr/>
        </p:nvSpPr>
        <p:spPr>
          <a:xfrm>
            <a:off x="5486400" y="2926080"/>
            <a:ext cx="1600200" cy="1508760"/>
          </a:xfrm>
          <a:prstGeom prst="roundRect">
            <a:avLst>
              <a:gd name="adj" fmla="val 4848"/>
            </a:avLst>
          </a:prstGeom>
          <a:solidFill>
            <a:schemeClr val="bg2"/>
          </a:solidFill>
          <a:ln w="12700">
            <a:solidFill>
              <a:schemeClr val="bg2"/>
            </a:solidFill>
            <a:prstDash val="solid"/>
          </a:ln>
        </p:spPr>
      </p:sp>
      <p:sp>
        <p:nvSpPr>
          <p:cNvPr id="19" name="Stat number 3"/>
          <p:cNvSpPr txBox="1"/>
          <p:nvPr/>
        </p:nvSpPr>
        <p:spPr>
          <a:xfrm>
            <a:off x="5486400" y="3108960"/>
            <a:ext cx="1600200" cy="640080"/>
          </a:xfrm>
          <a:prstGeom prst="rect">
            <a:avLst/>
          </a:prstGeom>
          <a:noFill/>
          <a:ln/>
        </p:spPr>
        <p:txBody>
          <a:bodyPr wrap="square" lIns="0" tIns="0" rIns="0" bIns="0" rtlCol="0" anchor="ctr"/>
          <a:lstStyle/>
          <a:p>
            <a:pPr algn="ctr" indent="0" marL="0">
              <a:buNone/>
            </a:pPr>
            <a:r>
              <a:rPr lang="en-US" sz="3000" b="1" dirty="0">
                <a:solidFill>
                  <a:schemeClr val="accent2"/>
                </a:solidFill>
              </a:rPr>
              <a:t>26.5%</a:t>
            </a:r>
            <a:endParaRPr lang="en-US" sz="3000" dirty="0"/>
          </a:p>
        </p:txBody>
      </p:sp>
      <p:sp>
        <p:nvSpPr>
          <p:cNvPr id="20" name="Stat caption 3"/>
          <p:cNvSpPr txBox="1"/>
          <p:nvPr/>
        </p:nvSpPr>
        <p:spPr>
          <a:xfrm>
            <a:off x="5577840" y="3749040"/>
            <a:ext cx="1417320" cy="594360"/>
          </a:xfrm>
          <a:prstGeom prst="rect">
            <a:avLst/>
          </a:prstGeom>
          <a:noFill/>
          <a:ln/>
        </p:spPr>
        <p:txBody>
          <a:bodyPr wrap="square" lIns="0" tIns="0" rIns="0" bIns="0" rtlCol="0" anchor="t"/>
          <a:lstStyle/>
          <a:p>
            <a:pPr algn="ctr" indent="0" marL="0">
              <a:buNone/>
            </a:pPr>
            <a:r>
              <a:rPr lang="en-US" sz="1200" dirty="0">
                <a:solidFill>
                  <a:schemeClr val="tx1"/>
                </a:solidFill>
              </a:rPr>
              <a:t>churned (imbalanced)</a:t>
            </a:r>
            <a:endParaRPr lang="en-US" sz="1200" dirty="0"/>
          </a:p>
        </p:txBody>
      </p:sp>
      <p:sp>
        <p:nvSpPr>
          <p:cNvPr id="21" name="Stat card 4"/>
          <p:cNvSpPr/>
          <p:nvPr/>
        </p:nvSpPr>
        <p:spPr>
          <a:xfrm>
            <a:off x="7223760" y="2926080"/>
            <a:ext cx="1600200" cy="1508760"/>
          </a:xfrm>
          <a:prstGeom prst="roundRect">
            <a:avLst>
              <a:gd name="adj" fmla="val 4848"/>
            </a:avLst>
          </a:prstGeom>
          <a:solidFill>
            <a:schemeClr val="bg2"/>
          </a:solidFill>
          <a:ln w="12700">
            <a:solidFill>
              <a:schemeClr val="bg2"/>
            </a:solidFill>
            <a:prstDash val="solid"/>
          </a:ln>
        </p:spPr>
      </p:sp>
      <p:sp>
        <p:nvSpPr>
          <p:cNvPr id="22" name="Stat number 4"/>
          <p:cNvSpPr txBox="1"/>
          <p:nvPr/>
        </p:nvSpPr>
        <p:spPr>
          <a:xfrm>
            <a:off x="7223760" y="3108960"/>
            <a:ext cx="1600200" cy="640080"/>
          </a:xfrm>
          <a:prstGeom prst="rect">
            <a:avLst/>
          </a:prstGeom>
          <a:noFill/>
          <a:ln/>
        </p:spPr>
        <p:txBody>
          <a:bodyPr wrap="square" lIns="0" tIns="0" rIns="0" bIns="0" rtlCol="0" anchor="ctr"/>
          <a:lstStyle/>
          <a:p>
            <a:pPr algn="ctr" indent="0" marL="0">
              <a:buNone/>
            </a:pPr>
            <a:r>
              <a:rPr lang="en-US" sz="3000" b="1" dirty="0">
                <a:solidFill>
                  <a:schemeClr val="accent1"/>
                </a:solidFill>
              </a:rPr>
              <a:t>11</a:t>
            </a:r>
            <a:endParaRPr lang="en-US" sz="3000" dirty="0"/>
          </a:p>
        </p:txBody>
      </p:sp>
      <p:sp>
        <p:nvSpPr>
          <p:cNvPr id="23" name="Stat caption 4"/>
          <p:cNvSpPr txBox="1"/>
          <p:nvPr/>
        </p:nvSpPr>
        <p:spPr>
          <a:xfrm>
            <a:off x="7315200" y="3749040"/>
            <a:ext cx="1417320" cy="594360"/>
          </a:xfrm>
          <a:prstGeom prst="rect">
            <a:avLst/>
          </a:prstGeom>
          <a:noFill/>
          <a:ln/>
        </p:spPr>
        <p:txBody>
          <a:bodyPr wrap="square" lIns="0" tIns="0" rIns="0" bIns="0" rtlCol="0" anchor="t"/>
          <a:lstStyle/>
          <a:p>
            <a:pPr algn="ctr" indent="0" marL="0">
              <a:buNone/>
            </a:pPr>
            <a:r>
              <a:rPr lang="en-US" sz="1200" dirty="0">
                <a:solidFill>
                  <a:schemeClr val="tx1"/>
                </a:solidFill>
              </a:rPr>
              <a:t>blank TotalCharges, all tenure 0</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One simple pipeline, six steps</a:t>
            </a:r>
            <a:endParaRPr lang="en-US" sz="3000" dirty="0"/>
          </a:p>
        </p:txBody>
      </p:sp>
      <p:sp>
        <p:nvSpPr>
          <p:cNvPr id="3" name="Step card 1"/>
          <p:cNvSpPr/>
          <p:nvPr/>
        </p:nvSpPr>
        <p:spPr>
          <a:xfrm>
            <a:off x="457200" y="1371600"/>
            <a:ext cx="1280160" cy="2651760"/>
          </a:xfrm>
          <a:prstGeom prst="roundRect">
            <a:avLst>
              <a:gd name="adj" fmla="val 5714"/>
            </a:avLst>
          </a:prstGeom>
          <a:solidFill>
            <a:schemeClr val="bg2"/>
          </a:solidFill>
          <a:ln w="12700">
            <a:solidFill>
              <a:schemeClr val="bg2"/>
            </a:solidFill>
            <a:prstDash val="solid"/>
          </a:ln>
        </p:spPr>
      </p:sp>
      <p:sp>
        <p:nvSpPr>
          <p:cNvPr id="4" name="Load circle"/>
          <p:cNvSpPr/>
          <p:nvPr/>
        </p:nvSpPr>
        <p:spPr>
          <a:xfrm>
            <a:off x="731520" y="1554480"/>
            <a:ext cx="731520" cy="731520"/>
          </a:xfrm>
          <a:prstGeom prst="ellipse">
            <a:avLst/>
          </a:prstGeom>
          <a:solidFill>
            <a:schemeClr val="accent1"/>
          </a:solidFill>
          <a:ln w="12700">
            <a:solidFill>
              <a:schemeClr val="accent1"/>
            </a:solidFill>
            <a:prstDash val="solid"/>
          </a:ln>
        </p:spPr>
      </p:sp>
      <p:pic>
        <p:nvPicPr>
          <p:cNvPr id="5" name="Load icon" descr="Load">    </p:cNvPr>
          <p:cNvPicPr>
            <a:picLocks noChangeAspect="1"/>
          </p:cNvPicPr>
          <p:nvPr/>
        </p:nvPicPr>
        <p:blipFill>
          <a:blip r:embed="rId1"/>
          <a:stretch>
            <a:fillRect/>
          </a:stretch>
        </p:blipFill>
        <p:spPr>
          <a:xfrm>
            <a:off x="929030" y="1751990"/>
            <a:ext cx="336499" cy="336499"/>
          </a:xfrm>
          <a:prstGeom prst="rect">
            <a:avLst/>
          </a:prstGeom>
        </p:spPr>
      </p:pic>
      <p:sp>
        <p:nvSpPr>
          <p:cNvPr id="6" name="Step name 1"/>
          <p:cNvSpPr txBox="1"/>
          <p:nvPr/>
        </p:nvSpPr>
        <p:spPr>
          <a:xfrm>
            <a:off x="457200" y="237744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Load</a:t>
            </a:r>
            <a:endParaRPr lang="en-US" sz="1600" dirty="0"/>
          </a:p>
        </p:txBody>
      </p:sp>
      <p:sp>
        <p:nvSpPr>
          <p:cNvPr id="7" name="Step text 1"/>
          <p:cNvSpPr txBox="1"/>
          <p:nvPr/>
        </p:nvSpPr>
        <p:spPr>
          <a:xfrm>
            <a:off x="548640" y="2743200"/>
            <a:ext cx="1097280" cy="777240"/>
          </a:xfrm>
          <a:prstGeom prst="rect">
            <a:avLst/>
          </a:prstGeom>
          <a:noFill/>
          <a:ln/>
        </p:spPr>
        <p:txBody>
          <a:bodyPr wrap="square" lIns="0" tIns="0" rIns="0" bIns="0" rtlCol="0" anchor="t"/>
          <a:lstStyle/>
          <a:p>
            <a:pPr algn="ctr" indent="0" marL="0">
              <a:buNone/>
            </a:pPr>
            <a:r>
              <a:rPr lang="en-US" sz="1200" dirty="0">
                <a:solidFill>
                  <a:schemeClr val="tx1"/>
                </a:solidFill>
              </a:rPr>
              <a:t>clean CSV, Yes/No to 1/0</a:t>
            </a:r>
            <a:endParaRPr lang="en-US" sz="1200" dirty="0"/>
          </a:p>
        </p:txBody>
      </p:sp>
      <p:sp>
        <p:nvSpPr>
          <p:cNvPr id="8" name="Step file 1"/>
          <p:cNvSpPr txBox="1"/>
          <p:nvPr/>
        </p:nvSpPr>
        <p:spPr>
          <a:xfrm>
            <a:off x="457200" y="3611880"/>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pipeline.py</a:t>
            </a:r>
            <a:endParaRPr lang="en-US" sz="1100" dirty="0"/>
          </a:p>
        </p:txBody>
      </p:sp>
      <p:sp>
        <p:nvSpPr>
          <p:cNvPr id="9" name="Step card 2"/>
          <p:cNvSpPr/>
          <p:nvPr/>
        </p:nvSpPr>
        <p:spPr>
          <a:xfrm>
            <a:off x="1828800" y="1371600"/>
            <a:ext cx="1280160" cy="2651760"/>
          </a:xfrm>
          <a:prstGeom prst="roundRect">
            <a:avLst>
              <a:gd name="adj" fmla="val 5714"/>
            </a:avLst>
          </a:prstGeom>
          <a:solidFill>
            <a:schemeClr val="bg2"/>
          </a:solidFill>
          <a:ln w="12700">
            <a:solidFill>
              <a:schemeClr val="bg2"/>
            </a:solidFill>
            <a:prstDash val="solid"/>
          </a:ln>
        </p:spPr>
      </p:sp>
      <p:sp>
        <p:nvSpPr>
          <p:cNvPr id="10" name="EDA circle"/>
          <p:cNvSpPr/>
          <p:nvPr/>
        </p:nvSpPr>
        <p:spPr>
          <a:xfrm>
            <a:off x="2103120" y="1554480"/>
            <a:ext cx="731520" cy="731520"/>
          </a:xfrm>
          <a:prstGeom prst="ellipse">
            <a:avLst/>
          </a:prstGeom>
          <a:solidFill>
            <a:schemeClr val="accent2"/>
          </a:solidFill>
          <a:ln w="12700">
            <a:solidFill>
              <a:schemeClr val="accent2"/>
            </a:solidFill>
            <a:prstDash val="solid"/>
          </a:ln>
        </p:spPr>
      </p:sp>
      <p:pic>
        <p:nvPicPr>
          <p:cNvPr id="11" name="EDA icon" descr="EDA">    </p:cNvPr>
          <p:cNvPicPr>
            <a:picLocks noChangeAspect="1"/>
          </p:cNvPicPr>
          <p:nvPr/>
        </p:nvPicPr>
        <p:blipFill>
          <a:blip r:embed="rId2"/>
          <a:stretch>
            <a:fillRect/>
          </a:stretch>
        </p:blipFill>
        <p:spPr>
          <a:xfrm>
            <a:off x="2300630" y="1751990"/>
            <a:ext cx="336499" cy="336499"/>
          </a:xfrm>
          <a:prstGeom prst="rect">
            <a:avLst/>
          </a:prstGeom>
        </p:spPr>
      </p:pic>
      <p:sp>
        <p:nvSpPr>
          <p:cNvPr id="12" name="Step name 2"/>
          <p:cNvSpPr txBox="1"/>
          <p:nvPr/>
        </p:nvSpPr>
        <p:spPr>
          <a:xfrm>
            <a:off x="1828800" y="237744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EDA</a:t>
            </a:r>
            <a:endParaRPr lang="en-US" sz="1600" dirty="0"/>
          </a:p>
        </p:txBody>
      </p:sp>
      <p:sp>
        <p:nvSpPr>
          <p:cNvPr id="13" name="Step text 2"/>
          <p:cNvSpPr txBox="1"/>
          <p:nvPr/>
        </p:nvSpPr>
        <p:spPr>
          <a:xfrm>
            <a:off x="1920240" y="2743200"/>
            <a:ext cx="1097280" cy="777240"/>
          </a:xfrm>
          <a:prstGeom prst="rect">
            <a:avLst/>
          </a:prstGeom>
          <a:noFill/>
          <a:ln/>
        </p:spPr>
        <p:txBody>
          <a:bodyPr wrap="square" lIns="0" tIns="0" rIns="0" bIns="0" rtlCol="0" anchor="t"/>
          <a:lstStyle/>
          <a:p>
            <a:pPr algn="ctr" indent="0" marL="0">
              <a:buNone/>
            </a:pPr>
            <a:r>
              <a:rPr lang="en-US" sz="1200" dirty="0">
                <a:solidFill>
                  <a:schemeClr val="tx1"/>
                </a:solidFill>
              </a:rPr>
              <a:t>distributions, churn by group</a:t>
            </a:r>
            <a:endParaRPr lang="en-US" sz="1200" dirty="0"/>
          </a:p>
        </p:txBody>
      </p:sp>
      <p:sp>
        <p:nvSpPr>
          <p:cNvPr id="14" name="Step file 2"/>
          <p:cNvSpPr txBox="1"/>
          <p:nvPr/>
        </p:nvSpPr>
        <p:spPr>
          <a:xfrm>
            <a:off x="1828800" y="3611880"/>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plots.py</a:t>
            </a:r>
            <a:endParaRPr lang="en-US" sz="1100" dirty="0"/>
          </a:p>
        </p:txBody>
      </p:sp>
      <p:sp>
        <p:nvSpPr>
          <p:cNvPr id="15" name="Step card 3"/>
          <p:cNvSpPr/>
          <p:nvPr/>
        </p:nvSpPr>
        <p:spPr>
          <a:xfrm>
            <a:off x="3200400" y="1371600"/>
            <a:ext cx="1280160" cy="2651760"/>
          </a:xfrm>
          <a:prstGeom prst="roundRect">
            <a:avLst>
              <a:gd name="adj" fmla="val 5714"/>
            </a:avLst>
          </a:prstGeom>
          <a:solidFill>
            <a:schemeClr val="bg2"/>
          </a:solidFill>
          <a:ln w="12700">
            <a:solidFill>
              <a:schemeClr val="bg2"/>
            </a:solidFill>
            <a:prstDash val="solid"/>
          </a:ln>
        </p:spPr>
      </p:sp>
      <p:sp>
        <p:nvSpPr>
          <p:cNvPr id="16" name="Features circle"/>
          <p:cNvSpPr/>
          <p:nvPr/>
        </p:nvSpPr>
        <p:spPr>
          <a:xfrm>
            <a:off x="3474720" y="1554480"/>
            <a:ext cx="731520" cy="731520"/>
          </a:xfrm>
          <a:prstGeom prst="ellipse">
            <a:avLst/>
          </a:prstGeom>
          <a:solidFill>
            <a:schemeClr val="accent1"/>
          </a:solidFill>
          <a:ln w="12700">
            <a:solidFill>
              <a:schemeClr val="accent1"/>
            </a:solidFill>
            <a:prstDash val="solid"/>
          </a:ln>
        </p:spPr>
      </p:sp>
      <p:pic>
        <p:nvPicPr>
          <p:cNvPr id="17" name="Features icon" descr="Features">    </p:cNvPr>
          <p:cNvPicPr>
            <a:picLocks noChangeAspect="1"/>
          </p:cNvPicPr>
          <p:nvPr/>
        </p:nvPicPr>
        <p:blipFill>
          <a:blip r:embed="rId3"/>
          <a:stretch>
            <a:fillRect/>
          </a:stretch>
        </p:blipFill>
        <p:spPr>
          <a:xfrm>
            <a:off x="3672230" y="1751990"/>
            <a:ext cx="336499" cy="336499"/>
          </a:xfrm>
          <a:prstGeom prst="rect">
            <a:avLst/>
          </a:prstGeom>
        </p:spPr>
      </p:pic>
      <p:sp>
        <p:nvSpPr>
          <p:cNvPr id="18" name="Step name 3"/>
          <p:cNvSpPr txBox="1"/>
          <p:nvPr/>
        </p:nvSpPr>
        <p:spPr>
          <a:xfrm>
            <a:off x="3200400" y="237744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Features</a:t>
            </a:r>
            <a:endParaRPr lang="en-US" sz="1600" dirty="0"/>
          </a:p>
        </p:txBody>
      </p:sp>
      <p:sp>
        <p:nvSpPr>
          <p:cNvPr id="19" name="Step text 3"/>
          <p:cNvSpPr txBox="1"/>
          <p:nvPr/>
        </p:nvSpPr>
        <p:spPr>
          <a:xfrm>
            <a:off x="3291840" y="2743200"/>
            <a:ext cx="1097280" cy="777240"/>
          </a:xfrm>
          <a:prstGeom prst="rect">
            <a:avLst/>
          </a:prstGeom>
          <a:noFill/>
          <a:ln/>
        </p:spPr>
        <p:txBody>
          <a:bodyPr wrap="square" lIns="0" tIns="0" rIns="0" bIns="0" rtlCol="0" anchor="t"/>
          <a:lstStyle/>
          <a:p>
            <a:pPr algn="ctr" indent="0" marL="0">
              <a:buNone/>
            </a:pPr>
            <a:r>
              <a:rPr lang="en-US" sz="1200" dirty="0">
                <a:solidFill>
                  <a:schemeClr val="tx1"/>
                </a:solidFill>
              </a:rPr>
              <a:t>engineer, split, encode, scale</a:t>
            </a:r>
            <a:endParaRPr lang="en-US" sz="1200" dirty="0"/>
          </a:p>
        </p:txBody>
      </p:sp>
      <p:sp>
        <p:nvSpPr>
          <p:cNvPr id="20" name="Step file 3"/>
          <p:cNvSpPr txBox="1"/>
          <p:nvPr/>
        </p:nvSpPr>
        <p:spPr>
          <a:xfrm>
            <a:off x="3200400" y="3611880"/>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pipeline.py</a:t>
            </a:r>
            <a:endParaRPr lang="en-US" sz="1100" dirty="0"/>
          </a:p>
        </p:txBody>
      </p:sp>
      <p:sp>
        <p:nvSpPr>
          <p:cNvPr id="21" name="Step card 4"/>
          <p:cNvSpPr/>
          <p:nvPr/>
        </p:nvSpPr>
        <p:spPr>
          <a:xfrm>
            <a:off x="4572000" y="1371600"/>
            <a:ext cx="1280160" cy="2651760"/>
          </a:xfrm>
          <a:prstGeom prst="roundRect">
            <a:avLst>
              <a:gd name="adj" fmla="val 5714"/>
            </a:avLst>
          </a:prstGeom>
          <a:solidFill>
            <a:schemeClr val="bg2"/>
          </a:solidFill>
          <a:ln w="12700">
            <a:solidFill>
              <a:schemeClr val="bg2"/>
            </a:solidFill>
            <a:prstDash val="solid"/>
          </a:ln>
        </p:spPr>
      </p:sp>
      <p:sp>
        <p:nvSpPr>
          <p:cNvPr id="22" name="Model circle"/>
          <p:cNvSpPr/>
          <p:nvPr/>
        </p:nvSpPr>
        <p:spPr>
          <a:xfrm>
            <a:off x="4846320" y="1554480"/>
            <a:ext cx="731520" cy="731520"/>
          </a:xfrm>
          <a:prstGeom prst="ellipse">
            <a:avLst/>
          </a:prstGeom>
          <a:solidFill>
            <a:schemeClr val="accent2"/>
          </a:solidFill>
          <a:ln w="12700">
            <a:solidFill>
              <a:schemeClr val="accent2"/>
            </a:solidFill>
            <a:prstDash val="solid"/>
          </a:ln>
        </p:spPr>
      </p:sp>
      <p:pic>
        <p:nvPicPr>
          <p:cNvPr id="23" name="Model icon" descr="Model">    </p:cNvPr>
          <p:cNvPicPr>
            <a:picLocks noChangeAspect="1"/>
          </p:cNvPicPr>
          <p:nvPr/>
        </p:nvPicPr>
        <p:blipFill>
          <a:blip r:embed="rId4"/>
          <a:stretch>
            <a:fillRect/>
          </a:stretch>
        </p:blipFill>
        <p:spPr>
          <a:xfrm>
            <a:off x="5043830" y="1751990"/>
            <a:ext cx="336499" cy="336499"/>
          </a:xfrm>
          <a:prstGeom prst="rect">
            <a:avLst/>
          </a:prstGeom>
        </p:spPr>
      </p:pic>
      <p:sp>
        <p:nvSpPr>
          <p:cNvPr id="24" name="Step name 4"/>
          <p:cNvSpPr txBox="1"/>
          <p:nvPr/>
        </p:nvSpPr>
        <p:spPr>
          <a:xfrm>
            <a:off x="4572000" y="237744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Model</a:t>
            </a:r>
            <a:endParaRPr lang="en-US" sz="1600" dirty="0"/>
          </a:p>
        </p:txBody>
      </p:sp>
      <p:sp>
        <p:nvSpPr>
          <p:cNvPr id="25" name="Step text 4"/>
          <p:cNvSpPr txBox="1"/>
          <p:nvPr/>
        </p:nvSpPr>
        <p:spPr>
          <a:xfrm>
            <a:off x="4663440" y="2743200"/>
            <a:ext cx="1097280" cy="777240"/>
          </a:xfrm>
          <a:prstGeom prst="rect">
            <a:avLst/>
          </a:prstGeom>
          <a:noFill/>
          <a:ln/>
        </p:spPr>
        <p:txBody>
          <a:bodyPr wrap="square" lIns="0" tIns="0" rIns="0" bIns="0" rtlCol="0" anchor="t"/>
          <a:lstStyle/>
          <a:p>
            <a:pPr algn="ctr" indent="0" marL="0">
              <a:buNone/>
            </a:pPr>
            <a:r>
              <a:rPr lang="en-US" sz="1200" dirty="0">
                <a:solidFill>
                  <a:schemeClr val="tx1"/>
                </a:solidFill>
              </a:rPr>
              <a:t>train 4 models from scratch</a:t>
            </a:r>
            <a:endParaRPr lang="en-US" sz="1200" dirty="0"/>
          </a:p>
        </p:txBody>
      </p:sp>
      <p:sp>
        <p:nvSpPr>
          <p:cNvPr id="26" name="Step file 4"/>
          <p:cNvSpPr txBox="1"/>
          <p:nvPr/>
        </p:nvSpPr>
        <p:spPr>
          <a:xfrm>
            <a:off x="4572000" y="3611880"/>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models.py</a:t>
            </a:r>
            <a:endParaRPr lang="en-US" sz="1100" dirty="0"/>
          </a:p>
        </p:txBody>
      </p:sp>
      <p:sp>
        <p:nvSpPr>
          <p:cNvPr id="27" name="Step card 5"/>
          <p:cNvSpPr/>
          <p:nvPr/>
        </p:nvSpPr>
        <p:spPr>
          <a:xfrm>
            <a:off x="5943600" y="1371600"/>
            <a:ext cx="1280160" cy="2651760"/>
          </a:xfrm>
          <a:prstGeom prst="roundRect">
            <a:avLst>
              <a:gd name="adj" fmla="val 5714"/>
            </a:avLst>
          </a:prstGeom>
          <a:solidFill>
            <a:schemeClr val="bg2"/>
          </a:solidFill>
          <a:ln w="12700">
            <a:solidFill>
              <a:schemeClr val="bg2"/>
            </a:solidFill>
            <a:prstDash val="solid"/>
          </a:ln>
        </p:spPr>
      </p:sp>
      <p:sp>
        <p:nvSpPr>
          <p:cNvPr id="28" name="Evaluate circle"/>
          <p:cNvSpPr/>
          <p:nvPr/>
        </p:nvSpPr>
        <p:spPr>
          <a:xfrm>
            <a:off x="6217920" y="1554480"/>
            <a:ext cx="731520" cy="731520"/>
          </a:xfrm>
          <a:prstGeom prst="ellipse">
            <a:avLst/>
          </a:prstGeom>
          <a:solidFill>
            <a:schemeClr val="accent1"/>
          </a:solidFill>
          <a:ln w="12700">
            <a:solidFill>
              <a:schemeClr val="accent1"/>
            </a:solidFill>
            <a:prstDash val="solid"/>
          </a:ln>
        </p:spPr>
      </p:sp>
      <p:pic>
        <p:nvPicPr>
          <p:cNvPr id="29" name="Evaluate icon" descr="Evaluate">    </p:cNvPr>
          <p:cNvPicPr>
            <a:picLocks noChangeAspect="1"/>
          </p:cNvPicPr>
          <p:nvPr/>
        </p:nvPicPr>
        <p:blipFill>
          <a:blip r:embed="rId5"/>
          <a:stretch>
            <a:fillRect/>
          </a:stretch>
        </p:blipFill>
        <p:spPr>
          <a:xfrm>
            <a:off x="6415430" y="1751990"/>
            <a:ext cx="336499" cy="336499"/>
          </a:xfrm>
          <a:prstGeom prst="rect">
            <a:avLst/>
          </a:prstGeom>
        </p:spPr>
      </p:pic>
      <p:sp>
        <p:nvSpPr>
          <p:cNvPr id="30" name="Step name 5"/>
          <p:cNvSpPr txBox="1"/>
          <p:nvPr/>
        </p:nvSpPr>
        <p:spPr>
          <a:xfrm>
            <a:off x="5943600" y="237744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Evaluate</a:t>
            </a:r>
            <a:endParaRPr lang="en-US" sz="1600" dirty="0"/>
          </a:p>
        </p:txBody>
      </p:sp>
      <p:sp>
        <p:nvSpPr>
          <p:cNvPr id="31" name="Step text 5"/>
          <p:cNvSpPr txBox="1"/>
          <p:nvPr/>
        </p:nvSpPr>
        <p:spPr>
          <a:xfrm>
            <a:off x="6035040" y="2743200"/>
            <a:ext cx="1097280" cy="777240"/>
          </a:xfrm>
          <a:prstGeom prst="rect">
            <a:avLst/>
          </a:prstGeom>
          <a:noFill/>
          <a:ln/>
        </p:spPr>
        <p:txBody>
          <a:bodyPr wrap="square" lIns="0" tIns="0" rIns="0" bIns="0" rtlCol="0" anchor="t"/>
          <a:lstStyle/>
          <a:p>
            <a:pPr algn="ctr" indent="0" marL="0">
              <a:buNone/>
            </a:pPr>
            <a:r>
              <a:rPr lang="en-US" sz="1200" dirty="0">
                <a:solidFill>
                  <a:schemeClr val="tx1"/>
                </a:solidFill>
              </a:rPr>
              <a:t>AUC, recall, threshold</a:t>
            </a:r>
            <a:endParaRPr lang="en-US" sz="1200" dirty="0"/>
          </a:p>
        </p:txBody>
      </p:sp>
      <p:sp>
        <p:nvSpPr>
          <p:cNvPr id="32" name="Step file 5"/>
          <p:cNvSpPr txBox="1"/>
          <p:nvPr/>
        </p:nvSpPr>
        <p:spPr>
          <a:xfrm>
            <a:off x="5943600" y="3611880"/>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metrics.py</a:t>
            </a:r>
            <a:endParaRPr lang="en-US" sz="1100" dirty="0"/>
          </a:p>
        </p:txBody>
      </p:sp>
      <p:sp>
        <p:nvSpPr>
          <p:cNvPr id="33" name="Step card 6"/>
          <p:cNvSpPr/>
          <p:nvPr/>
        </p:nvSpPr>
        <p:spPr>
          <a:xfrm>
            <a:off x="7315200" y="1371600"/>
            <a:ext cx="1280160" cy="2651760"/>
          </a:xfrm>
          <a:prstGeom prst="roundRect">
            <a:avLst>
              <a:gd name="adj" fmla="val 5714"/>
            </a:avLst>
          </a:prstGeom>
          <a:solidFill>
            <a:schemeClr val="bg2"/>
          </a:solidFill>
          <a:ln w="12700">
            <a:solidFill>
              <a:schemeClr val="bg2"/>
            </a:solidFill>
            <a:prstDash val="solid"/>
          </a:ln>
        </p:spPr>
      </p:sp>
      <p:sp>
        <p:nvSpPr>
          <p:cNvPr id="34" name="Predict circle"/>
          <p:cNvSpPr/>
          <p:nvPr/>
        </p:nvSpPr>
        <p:spPr>
          <a:xfrm>
            <a:off x="7589520" y="1554480"/>
            <a:ext cx="731520" cy="731520"/>
          </a:xfrm>
          <a:prstGeom prst="ellipse">
            <a:avLst/>
          </a:prstGeom>
          <a:solidFill>
            <a:schemeClr val="accent2"/>
          </a:solidFill>
          <a:ln w="12700">
            <a:solidFill>
              <a:schemeClr val="accent2"/>
            </a:solidFill>
            <a:prstDash val="solid"/>
          </a:ln>
        </p:spPr>
      </p:sp>
      <p:pic>
        <p:nvPicPr>
          <p:cNvPr id="35" name="Predict icon" descr="Predict">    </p:cNvPr>
          <p:cNvPicPr>
            <a:picLocks noChangeAspect="1"/>
          </p:cNvPicPr>
          <p:nvPr/>
        </p:nvPicPr>
        <p:blipFill>
          <a:blip r:embed="rId6"/>
          <a:stretch>
            <a:fillRect/>
          </a:stretch>
        </p:blipFill>
        <p:spPr>
          <a:xfrm>
            <a:off x="7787030" y="1751990"/>
            <a:ext cx="336499" cy="336499"/>
          </a:xfrm>
          <a:prstGeom prst="rect">
            <a:avLst/>
          </a:prstGeom>
        </p:spPr>
      </p:pic>
      <p:sp>
        <p:nvSpPr>
          <p:cNvPr id="36" name="Step name 6"/>
          <p:cNvSpPr txBox="1"/>
          <p:nvPr/>
        </p:nvSpPr>
        <p:spPr>
          <a:xfrm>
            <a:off x="7315200" y="2377440"/>
            <a:ext cx="1280160" cy="365760"/>
          </a:xfrm>
          <a:prstGeom prst="rect">
            <a:avLst/>
          </a:prstGeom>
          <a:noFill/>
          <a:ln/>
        </p:spPr>
        <p:txBody>
          <a:bodyPr wrap="square" lIns="0" tIns="0" rIns="0" bIns="0" rtlCol="0" anchor="ctr"/>
          <a:lstStyle/>
          <a:p>
            <a:pPr algn="ctr" indent="0" marL="0">
              <a:buNone/>
            </a:pPr>
            <a:r>
              <a:rPr lang="en-US" sz="1600" b="1" dirty="0">
                <a:solidFill>
                  <a:schemeClr val="tx1"/>
                </a:solidFill>
              </a:rPr>
              <a:t>Predict</a:t>
            </a:r>
            <a:endParaRPr lang="en-US" sz="1600" dirty="0"/>
          </a:p>
        </p:txBody>
      </p:sp>
      <p:sp>
        <p:nvSpPr>
          <p:cNvPr id="37" name="Step text 6"/>
          <p:cNvSpPr txBox="1"/>
          <p:nvPr/>
        </p:nvSpPr>
        <p:spPr>
          <a:xfrm>
            <a:off x="7406640" y="2743200"/>
            <a:ext cx="1097280" cy="777240"/>
          </a:xfrm>
          <a:prstGeom prst="rect">
            <a:avLst/>
          </a:prstGeom>
          <a:noFill/>
          <a:ln/>
        </p:spPr>
        <p:txBody>
          <a:bodyPr wrap="square" lIns="0" tIns="0" rIns="0" bIns="0" rtlCol="0" anchor="t"/>
          <a:lstStyle/>
          <a:p>
            <a:pPr algn="ctr" indent="0" marL="0">
              <a:buNone/>
            </a:pPr>
            <a:r>
              <a:rPr lang="en-US" sz="1200" dirty="0">
                <a:solidFill>
                  <a:schemeClr val="tx1"/>
                </a:solidFill>
              </a:rPr>
              <a:t>live in Streamlit</a:t>
            </a:r>
            <a:endParaRPr lang="en-US" sz="1200" dirty="0"/>
          </a:p>
        </p:txBody>
      </p:sp>
      <p:sp>
        <p:nvSpPr>
          <p:cNvPr id="38" name="Step file 6"/>
          <p:cNvSpPr txBox="1"/>
          <p:nvPr/>
        </p:nvSpPr>
        <p:spPr>
          <a:xfrm>
            <a:off x="7315200" y="3611880"/>
            <a:ext cx="1280160" cy="274320"/>
          </a:xfrm>
          <a:prstGeom prst="rect">
            <a:avLst/>
          </a:prstGeom>
          <a:noFill/>
          <a:ln/>
        </p:spPr>
        <p:txBody>
          <a:bodyPr wrap="square" lIns="0" tIns="0" rIns="0" bIns="0" rtlCol="0" anchor="ctr"/>
          <a:lstStyle/>
          <a:p>
            <a:pPr algn="ctr" indent="0" marL="0">
              <a:buNone/>
            </a:pPr>
            <a:r>
              <a:rPr lang="en-US" sz="1100" i="1" dirty="0">
                <a:solidFill>
                  <a:schemeClr val="accent6"/>
                </a:solidFill>
              </a:rPr>
              <a:t>app.py</a:t>
            </a:r>
            <a:endParaRPr lang="en-US" sz="1100" dirty="0"/>
          </a:p>
        </p:txBody>
      </p:sp>
      <p:sp>
        <p:nvSpPr>
          <p:cNvPr id="39" name="Pipeline note"/>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400" dirty="0">
                <a:solidFill>
                  <a:schemeClr val="tx1"/>
                </a:solidFill>
              </a:rPr>
              <a:t>Split first, then fit all preprocessing on training rows only, so no test information leaks in.</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Who churns: new, month-to-month customers</a:t>
            </a:r>
            <a:endParaRPr lang="en-US" sz="3000" dirty="0"/>
          </a:p>
        </p:txBody>
      </p:sp>
      <p:graphicFrame>
        <p:nvGraphicFramePr>
          <p:cNvPr id="3" name="Chart 0" descr=""/>
          <p:cNvGraphicFramePr/>
          <p:nvPr/>
        </p:nvGraphicFramePr>
        <p:xfrm>
          <a:off x="457200" y="1097280"/>
          <a:ext cx="3931920" cy="2651760"/>
        </p:xfrm>
        <a:graphic xmlns:a="http://schemas.openxmlformats.org/drawingml/2006/main">
          <a:graphicData uri="http://schemas.openxmlformats.org/drawingml/2006/chart">
            <c:chart xmlns:c="http://schemas.openxmlformats.org/drawingml/2006/chart" r:id="rId1"/>
          </a:graphicData>
        </a:graphic>
      </p:graphicFrame>
      <p:pic>
        <p:nvPicPr>
          <p:cNvPr id="4" name="Churn vs tenure" descr="Line chart: churn rate falls as tenure grows">    </p:cNvPr>
          <p:cNvPicPr>
            <a:picLocks noChangeAspect="1"/>
          </p:cNvPicPr>
          <p:nvPr/>
        </p:nvPicPr>
        <p:blipFill>
          <a:blip r:embed="rId2"/>
          <a:stretch>
            <a:fillRect/>
          </a:stretch>
        </p:blipFill>
        <p:spPr>
          <a:xfrm>
            <a:off x="4750925" y="1097280"/>
            <a:ext cx="3756950" cy="2651760"/>
          </a:xfrm>
          <a:prstGeom prst="rect">
            <a:avLst/>
          </a:prstGeom>
        </p:spPr>
      </p:pic>
      <p:sp>
        <p:nvSpPr>
          <p:cNvPr id="5" name="Callout 1"/>
          <p:cNvSpPr/>
          <p:nvPr/>
        </p:nvSpPr>
        <p:spPr>
          <a:xfrm>
            <a:off x="457200" y="3886200"/>
            <a:ext cx="4023360" cy="777240"/>
          </a:xfrm>
          <a:prstGeom prst="roundRect">
            <a:avLst>
              <a:gd name="adj" fmla="val 9412"/>
            </a:avLst>
          </a:prstGeom>
          <a:solidFill>
            <a:schemeClr val="bg2"/>
          </a:solidFill>
          <a:ln w="12700">
            <a:solidFill>
              <a:schemeClr val="bg2"/>
            </a:solidFill>
            <a:prstDash val="solid"/>
          </a:ln>
        </p:spPr>
      </p:sp>
      <p:sp>
        <p:nvSpPr>
          <p:cNvPr id="6" name="Callout text 1"/>
          <p:cNvSpPr txBox="1"/>
          <p:nvPr/>
        </p:nvSpPr>
        <p:spPr>
          <a:xfrm>
            <a:off x="640080" y="3886200"/>
            <a:ext cx="3749040" cy="777240"/>
          </a:xfrm>
          <a:prstGeom prst="rect">
            <a:avLst/>
          </a:prstGeom>
          <a:noFill/>
          <a:ln/>
        </p:spPr>
        <p:txBody>
          <a:bodyPr wrap="square" lIns="0" tIns="0" rIns="0" bIns="0" rtlCol="0" anchor="ctr"/>
          <a:lstStyle/>
          <a:p>
            <a:pPr indent="0" marL="0">
              <a:buNone/>
            </a:pPr>
            <a:r>
              <a:rPr lang="en-US" sz="2400" b="1" dirty="0">
                <a:solidFill>
                  <a:schemeClr val="accent2"/>
                </a:solidFill>
              </a:rPr>
              <a:t>41.9%  </a:t>
            </a:r>
            <a:pPr indent="0" marL="0">
              <a:buNone/>
            </a:pPr>
            <a:r>
              <a:rPr lang="en-US" sz="1300" dirty="0">
                <a:solidFill>
                  <a:schemeClr val="tx1"/>
                </a:solidFill>
              </a:rPr>
              <a:t>fibre-optic churn vs 19.0% for DSL</a:t>
            </a:r>
            <a:endParaRPr lang="en-US" sz="2400" dirty="0"/>
          </a:p>
        </p:txBody>
      </p:sp>
      <p:sp>
        <p:nvSpPr>
          <p:cNvPr id="7" name="Callout 2"/>
          <p:cNvSpPr/>
          <p:nvPr/>
        </p:nvSpPr>
        <p:spPr>
          <a:xfrm>
            <a:off x="4663440" y="3886200"/>
            <a:ext cx="4023360" cy="777240"/>
          </a:xfrm>
          <a:prstGeom prst="roundRect">
            <a:avLst>
              <a:gd name="adj" fmla="val 9412"/>
            </a:avLst>
          </a:prstGeom>
          <a:solidFill>
            <a:schemeClr val="bg2"/>
          </a:solidFill>
          <a:ln w="12700">
            <a:solidFill>
              <a:schemeClr val="bg2"/>
            </a:solidFill>
            <a:prstDash val="solid"/>
          </a:ln>
        </p:spPr>
      </p:sp>
      <p:sp>
        <p:nvSpPr>
          <p:cNvPr id="8" name="Callout text 2"/>
          <p:cNvSpPr txBox="1"/>
          <p:nvPr/>
        </p:nvSpPr>
        <p:spPr>
          <a:xfrm>
            <a:off x="4846320" y="3886200"/>
            <a:ext cx="3749040" cy="777240"/>
          </a:xfrm>
          <a:prstGeom prst="rect">
            <a:avLst/>
          </a:prstGeom>
          <a:noFill/>
          <a:ln/>
        </p:spPr>
        <p:txBody>
          <a:bodyPr wrap="square" lIns="0" tIns="0" rIns="0" bIns="0" rtlCol="0" anchor="ctr"/>
          <a:lstStyle/>
          <a:p>
            <a:pPr indent="0" marL="0">
              <a:buNone/>
            </a:pPr>
            <a:r>
              <a:rPr lang="en-US" sz="2400" b="1" dirty="0">
                <a:solidFill>
                  <a:schemeClr val="accent2"/>
                </a:solidFill>
              </a:rPr>
              <a:t>45.3%  </a:t>
            </a:r>
            <a:pPr indent="0" marL="0">
              <a:buNone/>
            </a:pPr>
            <a:r>
              <a:rPr lang="en-US" sz="1300" dirty="0">
                <a:solidFill>
                  <a:schemeClr val="tx1"/>
                </a:solidFill>
              </a:rPr>
              <a:t>electronic-check churn vs about 15-19% for other payments</a:t>
            </a:r>
            <a:endParaRPr lang="en-US" sz="2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19 columns become 48 model inputs</a:t>
            </a:r>
            <a:endParaRPr lang="en-US" sz="3000" dirty="0"/>
          </a:p>
        </p:txBody>
      </p:sp>
      <p:sp>
        <p:nvSpPr>
          <p:cNvPr id="3" name="Stratified split 70 / 15 / 15 circle"/>
          <p:cNvSpPr/>
          <p:nvPr/>
        </p:nvSpPr>
        <p:spPr>
          <a:xfrm>
            <a:off x="457200" y="1280160"/>
            <a:ext cx="640080" cy="640080"/>
          </a:xfrm>
          <a:prstGeom prst="ellipse">
            <a:avLst/>
          </a:prstGeom>
          <a:solidFill>
            <a:schemeClr val="accent1"/>
          </a:solidFill>
          <a:ln w="12700">
            <a:solidFill>
              <a:schemeClr val="accent1"/>
            </a:solidFill>
            <a:prstDash val="solid"/>
          </a:ln>
        </p:spPr>
      </p:sp>
      <p:pic>
        <p:nvPicPr>
          <p:cNvPr id="4" name="Stratified split 70 / 15 / 15 icon" descr="Stratified split 70 / 15 / 15">    </p:cNvPr>
          <p:cNvPicPr>
            <a:picLocks noChangeAspect="1"/>
          </p:cNvPicPr>
          <p:nvPr/>
        </p:nvPicPr>
        <p:blipFill>
          <a:blip r:embed="rId1"/>
          <a:stretch>
            <a:fillRect/>
          </a:stretch>
        </p:blipFill>
        <p:spPr>
          <a:xfrm>
            <a:off x="630022" y="1452982"/>
            <a:ext cx="294437" cy="294437"/>
          </a:xfrm>
          <a:prstGeom prst="rect">
            <a:avLst/>
          </a:prstGeom>
        </p:spPr>
      </p:pic>
      <p:sp>
        <p:nvSpPr>
          <p:cNvPr id="5" name="Feature step 1"/>
          <p:cNvSpPr txBox="1"/>
          <p:nvPr/>
        </p:nvSpPr>
        <p:spPr>
          <a:xfrm>
            <a:off x="1280160" y="1188720"/>
            <a:ext cx="3931920" cy="1005840"/>
          </a:xfrm>
          <a:prstGeom prst="rect">
            <a:avLst/>
          </a:prstGeom>
          <a:noFill/>
          <a:ln/>
        </p:spPr>
        <p:txBody>
          <a:bodyPr wrap="square" lIns="0" tIns="0" rIns="0" bIns="0" rtlCol="0" anchor="ctr"/>
          <a:lstStyle/>
          <a:p>
            <a:pPr indent="0" marL="0">
              <a:buNone/>
            </a:pPr>
            <a:r>
              <a:rPr lang="en-US" sz="1600" b="1" dirty="0">
                <a:solidFill>
                  <a:schemeClr val="tx1"/>
                </a:solidFill>
              </a:rPr>
              <a:t>Stratified split 70 / 15 / 15</a:t>
            </a:r>
            <a:endParaRPr lang="en-US" sz="1600" dirty="0"/>
          </a:p>
          <a:p>
            <a:pPr indent="0" marL="0">
              <a:buNone/>
            </a:pPr>
            <a:r>
              <a:rPr lang="en-US" sz="1400" dirty="0">
                <a:solidFill>
                  <a:schemeClr val="tx1"/>
                </a:solidFill>
              </a:rPr>
              <a:t>Train fits, validation tunes, test is used once. Each part keeps the 26.5% churn share.</a:t>
            </a:r>
            <a:endParaRPr lang="en-US" sz="1600" dirty="0"/>
          </a:p>
        </p:txBody>
      </p:sp>
      <p:sp>
        <p:nvSpPr>
          <p:cNvPr id="6" name="Impute and standardise circle"/>
          <p:cNvSpPr/>
          <p:nvPr/>
        </p:nvSpPr>
        <p:spPr>
          <a:xfrm>
            <a:off x="457200" y="2423160"/>
            <a:ext cx="640080" cy="640080"/>
          </a:xfrm>
          <a:prstGeom prst="ellipse">
            <a:avLst/>
          </a:prstGeom>
          <a:solidFill>
            <a:schemeClr val="accent1"/>
          </a:solidFill>
          <a:ln w="12700">
            <a:solidFill>
              <a:schemeClr val="accent1"/>
            </a:solidFill>
            <a:prstDash val="solid"/>
          </a:ln>
        </p:spPr>
      </p:sp>
      <p:pic>
        <p:nvPicPr>
          <p:cNvPr id="7" name="Impute and standardise icon" descr="Impute and standardise">    </p:cNvPr>
          <p:cNvPicPr>
            <a:picLocks noChangeAspect="1"/>
          </p:cNvPicPr>
          <p:nvPr/>
        </p:nvPicPr>
        <p:blipFill>
          <a:blip r:embed="rId2"/>
          <a:stretch>
            <a:fillRect/>
          </a:stretch>
        </p:blipFill>
        <p:spPr>
          <a:xfrm>
            <a:off x="630022" y="2595982"/>
            <a:ext cx="294437" cy="294437"/>
          </a:xfrm>
          <a:prstGeom prst="rect">
            <a:avLst/>
          </a:prstGeom>
        </p:spPr>
      </p:pic>
      <p:sp>
        <p:nvSpPr>
          <p:cNvPr id="8" name="Feature step 2"/>
          <p:cNvSpPr txBox="1"/>
          <p:nvPr/>
        </p:nvSpPr>
        <p:spPr>
          <a:xfrm>
            <a:off x="1280160" y="2331720"/>
            <a:ext cx="3931920" cy="1005840"/>
          </a:xfrm>
          <a:prstGeom prst="rect">
            <a:avLst/>
          </a:prstGeom>
          <a:noFill/>
          <a:ln/>
        </p:spPr>
        <p:txBody>
          <a:bodyPr wrap="square" lIns="0" tIns="0" rIns="0" bIns="0" rtlCol="0" anchor="ctr"/>
          <a:lstStyle/>
          <a:p>
            <a:pPr indent="0" marL="0">
              <a:buNone/>
            </a:pPr>
            <a:r>
              <a:rPr lang="en-US" sz="1600" b="1" dirty="0">
                <a:solidFill>
                  <a:schemeClr val="tx1"/>
                </a:solidFill>
              </a:rPr>
              <a:t>Impute and standardise</a:t>
            </a:r>
            <a:endParaRPr lang="en-US" sz="1600" dirty="0"/>
          </a:p>
          <a:p>
            <a:pPr indent="0" marL="0">
              <a:buNone/>
            </a:pPr>
            <a:r>
              <a:rPr lang="en-US" sz="1400" dirty="0">
                <a:solidFill>
                  <a:schemeClr val="tx1"/>
                </a:solidFill>
              </a:rPr>
              <a:t>Median fills blanks. z = (x - mean) / std puts every number on one ruler.</a:t>
            </a:r>
            <a:endParaRPr lang="en-US" sz="1600" dirty="0"/>
          </a:p>
        </p:txBody>
      </p:sp>
      <p:sp>
        <p:nvSpPr>
          <p:cNvPr id="9" name="One-hot encode circle"/>
          <p:cNvSpPr/>
          <p:nvPr/>
        </p:nvSpPr>
        <p:spPr>
          <a:xfrm>
            <a:off x="457200" y="3566160"/>
            <a:ext cx="640080" cy="640080"/>
          </a:xfrm>
          <a:prstGeom prst="ellipse">
            <a:avLst/>
          </a:prstGeom>
          <a:solidFill>
            <a:schemeClr val="accent1"/>
          </a:solidFill>
          <a:ln w="12700">
            <a:solidFill>
              <a:schemeClr val="accent1"/>
            </a:solidFill>
            <a:prstDash val="solid"/>
          </a:ln>
        </p:spPr>
      </p:sp>
      <p:pic>
        <p:nvPicPr>
          <p:cNvPr id="10" name="One-hot encode icon" descr="One-hot encode">    </p:cNvPr>
          <p:cNvPicPr>
            <a:picLocks noChangeAspect="1"/>
          </p:cNvPicPr>
          <p:nvPr/>
        </p:nvPicPr>
        <p:blipFill>
          <a:blip r:embed="rId3"/>
          <a:stretch>
            <a:fillRect/>
          </a:stretch>
        </p:blipFill>
        <p:spPr>
          <a:xfrm>
            <a:off x="630022" y="3738982"/>
            <a:ext cx="294437" cy="294437"/>
          </a:xfrm>
          <a:prstGeom prst="rect">
            <a:avLst/>
          </a:prstGeom>
        </p:spPr>
      </p:pic>
      <p:sp>
        <p:nvSpPr>
          <p:cNvPr id="11" name="Feature step 3"/>
          <p:cNvSpPr txBox="1"/>
          <p:nvPr/>
        </p:nvSpPr>
        <p:spPr>
          <a:xfrm>
            <a:off x="1280160" y="3474720"/>
            <a:ext cx="3931920" cy="1005840"/>
          </a:xfrm>
          <a:prstGeom prst="rect">
            <a:avLst/>
          </a:prstGeom>
          <a:noFill/>
          <a:ln/>
        </p:spPr>
        <p:txBody>
          <a:bodyPr wrap="square" lIns="0" tIns="0" rIns="0" bIns="0" rtlCol="0" anchor="ctr"/>
          <a:lstStyle/>
          <a:p>
            <a:pPr indent="0" marL="0">
              <a:buNone/>
            </a:pPr>
            <a:r>
              <a:rPr lang="en-US" sz="1600" b="1" dirty="0">
                <a:solidFill>
                  <a:schemeClr val="tx1"/>
                </a:solidFill>
              </a:rPr>
              <a:t>One-hot encode</a:t>
            </a:r>
            <a:endParaRPr lang="en-US" sz="1600" dirty="0"/>
          </a:p>
          <a:p>
            <a:pPr indent="0" marL="0">
              <a:buNone/>
            </a:pPr>
            <a:r>
              <a:rPr lang="en-US" sz="1400" dirty="0">
                <a:solidFill>
                  <a:schemeClr val="tx1"/>
                </a:solidFill>
              </a:rPr>
              <a:t>Each category gets its own 0/1 column, so no fake ordering.</a:t>
            </a:r>
            <a:endParaRPr lang="en-US" sz="1600" dirty="0"/>
          </a:p>
        </p:txBody>
      </p:sp>
      <p:sp>
        <p:nvSpPr>
          <p:cNvPr id="12" name="Engineered features card"/>
          <p:cNvSpPr/>
          <p:nvPr/>
        </p:nvSpPr>
        <p:spPr>
          <a:xfrm>
            <a:off x="5486400" y="1188720"/>
            <a:ext cx="3200400" cy="3383280"/>
          </a:xfrm>
          <a:prstGeom prst="roundRect">
            <a:avLst>
              <a:gd name="adj" fmla="val 2286"/>
            </a:avLst>
          </a:prstGeom>
          <a:solidFill>
            <a:schemeClr val="tx1"/>
          </a:solidFill>
          <a:ln w="12700">
            <a:solidFill>
              <a:schemeClr val="tx1"/>
            </a:solidFill>
            <a:prstDash val="solid"/>
          </a:ln>
        </p:spPr>
      </p:sp>
      <p:sp>
        <p:nvSpPr>
          <p:cNvPr id="13" name="Engineered title"/>
          <p:cNvSpPr txBox="1"/>
          <p:nvPr/>
        </p:nvSpPr>
        <p:spPr>
          <a:xfrm>
            <a:off x="5715000" y="1325880"/>
            <a:ext cx="2743200" cy="365760"/>
          </a:xfrm>
          <a:prstGeom prst="rect">
            <a:avLst/>
          </a:prstGeom>
          <a:noFill/>
          <a:ln/>
        </p:spPr>
        <p:txBody>
          <a:bodyPr wrap="square" lIns="0" tIns="0" rIns="0" bIns="0" rtlCol="0" anchor="ctr"/>
          <a:lstStyle/>
          <a:p>
            <a:pPr indent="0" marL="0">
              <a:buNone/>
            </a:pPr>
            <a:r>
              <a:rPr lang="en-US" sz="1600" b="1" dirty="0">
                <a:solidFill>
                  <a:schemeClr val="accent3"/>
                </a:solidFill>
              </a:rPr>
              <a:t>3 engineered features</a:t>
            </a:r>
            <a:endParaRPr lang="en-US" sz="1600" dirty="0"/>
          </a:p>
        </p:txBody>
      </p:sp>
      <p:sp>
        <p:nvSpPr>
          <p:cNvPr id="14" name="Engineered list"/>
          <p:cNvSpPr txBox="1"/>
          <p:nvPr/>
        </p:nvSpPr>
        <p:spPr>
          <a:xfrm>
            <a:off x="5715000" y="1783080"/>
            <a:ext cx="2743200" cy="2103120"/>
          </a:xfrm>
          <a:prstGeom prst="rect">
            <a:avLst/>
          </a:prstGeom>
          <a:noFill/>
          <a:ln/>
        </p:spPr>
        <p:txBody>
          <a:bodyPr wrap="square" lIns="0" tIns="0" rIns="0" bIns="0" rtlCol="0" anchor="t"/>
          <a:lstStyle/>
          <a:p>
            <a:pPr indent="0" marL="0">
              <a:buNone/>
            </a:pPr>
            <a:r>
              <a:rPr lang="en-US" sz="1400" b="1" dirty="0">
                <a:solidFill>
                  <a:schemeClr val="bg1"/>
                </a:solidFill>
              </a:rPr>
              <a:t>NumServices</a:t>
            </a:r>
            <a:endParaRPr lang="en-US" sz="1400" dirty="0"/>
          </a:p>
          <a:p>
            <a:pPr indent="0" marL="0">
              <a:buNone/>
            </a:pPr>
            <a:r>
              <a:rPr lang="en-US" sz="1200" dirty="0">
                <a:solidFill>
                  <a:schemeClr val="bg2"/>
                </a:solidFill>
              </a:rPr>
              <a:t>count of subscribed services</a:t>
            </a:r>
            <a:endParaRPr lang="en-US" sz="1400" dirty="0"/>
          </a:p>
          <a:p>
            <a:pPr indent="0" marL="0">
              <a:buNone/>
            </a:pPr>
            <a:r>
              <a:rPr lang="en-US" sz="600" dirty="0">
                <a:solidFill>
                  <a:srgbClr val="000000"/>
                </a:solidFill>
              </a:rPr>
              <a:t> </a:t>
            </a:r>
            <a:endParaRPr lang="en-US" sz="1400" dirty="0"/>
          </a:p>
          <a:p>
            <a:pPr indent="0" marL="0">
              <a:buNone/>
            </a:pPr>
            <a:r>
              <a:rPr lang="en-US" sz="1400" b="1" dirty="0">
                <a:solidFill>
                  <a:schemeClr val="bg1"/>
                </a:solidFill>
              </a:rPr>
              <a:t>AvgMonthlySpend</a:t>
            </a:r>
            <a:endParaRPr lang="en-US" sz="1400" dirty="0"/>
          </a:p>
          <a:p>
            <a:pPr indent="0" marL="0">
              <a:buNone/>
            </a:pPr>
            <a:r>
              <a:rPr lang="en-US" sz="1200" dirty="0">
                <a:solidFill>
                  <a:schemeClr val="bg2"/>
                </a:solidFill>
              </a:rPr>
              <a:t>TotalCharges / tenure</a:t>
            </a:r>
            <a:endParaRPr lang="en-US" sz="1400" dirty="0"/>
          </a:p>
          <a:p>
            <a:pPr indent="0" marL="0">
              <a:buNone/>
            </a:pPr>
            <a:r>
              <a:rPr lang="en-US" sz="600" dirty="0">
                <a:solidFill>
                  <a:srgbClr val="000000"/>
                </a:solidFill>
              </a:rPr>
              <a:t> </a:t>
            </a:r>
            <a:endParaRPr lang="en-US" sz="1400" dirty="0"/>
          </a:p>
          <a:p>
            <a:pPr indent="0" marL="0">
              <a:buNone/>
            </a:pPr>
            <a:r>
              <a:rPr lang="en-US" sz="1400" b="1" dirty="0">
                <a:solidFill>
                  <a:schemeClr val="bg1"/>
                </a:solidFill>
              </a:rPr>
              <a:t>ChargePerService</a:t>
            </a:r>
            <a:endParaRPr lang="en-US" sz="1400" dirty="0"/>
          </a:p>
          <a:p>
            <a:pPr indent="0" marL="0">
              <a:buNone/>
            </a:pPr>
            <a:r>
              <a:rPr lang="en-US" sz="1200" dirty="0">
                <a:solidFill>
                  <a:schemeClr val="bg2"/>
                </a:solidFill>
              </a:rPr>
              <a:t>MonthlyCharges / (NumServices + 1)</a:t>
            </a:r>
            <a:endParaRPr lang="en-US" sz="1400" dirty="0"/>
          </a:p>
        </p:txBody>
      </p:sp>
      <p:sp>
        <p:nvSpPr>
          <p:cNvPr id="15" name="Engineered note"/>
          <p:cNvSpPr txBox="1"/>
          <p:nvPr/>
        </p:nvSpPr>
        <p:spPr>
          <a:xfrm>
            <a:off x="5715000" y="3840480"/>
            <a:ext cx="2743200" cy="640080"/>
          </a:xfrm>
          <a:prstGeom prst="rect">
            <a:avLst/>
          </a:prstGeom>
          <a:noFill/>
          <a:ln/>
        </p:spPr>
        <p:txBody>
          <a:bodyPr wrap="square" lIns="0" tIns="0" rIns="0" bIns="0" rtlCol="0" anchor="ctr"/>
          <a:lstStyle/>
          <a:p>
            <a:pPr indent="0" marL="0">
              <a:buNone/>
            </a:pPr>
            <a:r>
              <a:rPr lang="en-US" sz="1200" i="1" dirty="0">
                <a:solidFill>
                  <a:schemeClr val="accent3"/>
                </a:solidFill>
              </a:rPr>
              <a:t>ChargePerService is the 2nd most important feature in the tree.</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Four classifiers, all written in NumPy</a:t>
            </a:r>
            <a:endParaRPr lang="en-US" sz="3000" dirty="0"/>
          </a:p>
        </p:txBody>
      </p:sp>
      <p:sp>
        <p:nvSpPr>
          <p:cNvPr id="3" name="Model card 1"/>
          <p:cNvSpPr/>
          <p:nvPr/>
        </p:nvSpPr>
        <p:spPr>
          <a:xfrm>
            <a:off x="457200" y="1143000"/>
            <a:ext cx="4023360" cy="1600200"/>
          </a:xfrm>
          <a:prstGeom prst="roundRect">
            <a:avLst>
              <a:gd name="adj" fmla="val 4571"/>
            </a:avLst>
          </a:prstGeom>
          <a:solidFill>
            <a:schemeClr val="bg2"/>
          </a:solidFill>
          <a:ln w="12700">
            <a:solidFill>
              <a:schemeClr val="bg2"/>
            </a:solidFill>
            <a:prstDash val="solid"/>
          </a:ln>
        </p:spPr>
      </p:sp>
      <p:sp>
        <p:nvSpPr>
          <p:cNvPr id="4" name="Model marker 1"/>
          <p:cNvSpPr/>
          <p:nvPr/>
        </p:nvSpPr>
        <p:spPr>
          <a:xfrm>
            <a:off x="640080" y="1325880"/>
            <a:ext cx="411480" cy="411480"/>
          </a:xfrm>
          <a:prstGeom prst="ellipse">
            <a:avLst/>
          </a:prstGeom>
          <a:solidFill>
            <a:schemeClr val="accent1"/>
          </a:solidFill>
          <a:ln w="12700">
            <a:solidFill>
              <a:schemeClr val="accent1"/>
            </a:solidFill>
            <a:prstDash val="solid"/>
          </a:ln>
        </p:spPr>
      </p:sp>
      <p:sp>
        <p:nvSpPr>
          <p:cNvPr id="5" name="Model number 1"/>
          <p:cNvSpPr txBox="1"/>
          <p:nvPr/>
        </p:nvSpPr>
        <p:spPr>
          <a:xfrm>
            <a:off x="640080" y="1325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Model name 1"/>
          <p:cNvSpPr txBox="1"/>
          <p:nvPr/>
        </p:nvSpPr>
        <p:spPr>
          <a:xfrm>
            <a:off x="1188720" y="132588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Logistic Regression</a:t>
            </a:r>
            <a:endParaRPr lang="en-US" sz="1700" dirty="0"/>
          </a:p>
        </p:txBody>
      </p:sp>
      <p:sp>
        <p:nvSpPr>
          <p:cNvPr id="7" name="Model formula 1"/>
          <p:cNvSpPr txBox="1"/>
          <p:nvPr/>
        </p:nvSpPr>
        <p:spPr>
          <a:xfrm>
            <a:off x="640080" y="1856232"/>
            <a:ext cx="365760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p = sigmoid(w·x + b)</a:t>
            </a:r>
            <a:endParaRPr lang="en-US" sz="1400" dirty="0"/>
          </a:p>
        </p:txBody>
      </p:sp>
      <p:sp>
        <p:nvSpPr>
          <p:cNvPr id="8" name="Model idea 1"/>
          <p:cNvSpPr txBox="1"/>
          <p:nvPr/>
        </p:nvSpPr>
        <p:spPr>
          <a:xfrm>
            <a:off x="640080" y="2167128"/>
            <a:ext cx="3657600" cy="502920"/>
          </a:xfrm>
          <a:prstGeom prst="rect">
            <a:avLst/>
          </a:prstGeom>
          <a:noFill/>
          <a:ln/>
        </p:spPr>
        <p:txBody>
          <a:bodyPr wrap="square" lIns="0" tIns="0" rIns="0" bIns="0" rtlCol="0" anchor="t"/>
          <a:lstStyle/>
          <a:p>
            <a:pPr indent="0" marL="0">
              <a:buNone/>
            </a:pPr>
            <a:r>
              <a:rPr lang="en-US" sz="1300" dirty="0">
                <a:solidFill>
                  <a:schemeClr val="tx1"/>
                </a:solidFill>
              </a:rPr>
              <a:t>Linear log-odds, trained by gradient descent on cross-entropy.</a:t>
            </a:r>
            <a:endParaRPr lang="en-US" sz="1300" dirty="0"/>
          </a:p>
        </p:txBody>
      </p:sp>
      <p:sp>
        <p:nvSpPr>
          <p:cNvPr id="9" name="Model card 2"/>
          <p:cNvSpPr/>
          <p:nvPr/>
        </p:nvSpPr>
        <p:spPr>
          <a:xfrm>
            <a:off x="4663440" y="1143000"/>
            <a:ext cx="4023360" cy="1600200"/>
          </a:xfrm>
          <a:prstGeom prst="roundRect">
            <a:avLst>
              <a:gd name="adj" fmla="val 4571"/>
            </a:avLst>
          </a:prstGeom>
          <a:solidFill>
            <a:schemeClr val="bg2"/>
          </a:solidFill>
          <a:ln w="12700">
            <a:solidFill>
              <a:schemeClr val="bg2"/>
            </a:solidFill>
            <a:prstDash val="solid"/>
          </a:ln>
        </p:spPr>
      </p:sp>
      <p:sp>
        <p:nvSpPr>
          <p:cNvPr id="10" name="Model marker 2"/>
          <p:cNvSpPr/>
          <p:nvPr/>
        </p:nvSpPr>
        <p:spPr>
          <a:xfrm>
            <a:off x="4846320" y="1325880"/>
            <a:ext cx="411480" cy="411480"/>
          </a:xfrm>
          <a:prstGeom prst="ellipse">
            <a:avLst/>
          </a:prstGeom>
          <a:solidFill>
            <a:schemeClr val="accent4"/>
          </a:solidFill>
          <a:ln w="12700">
            <a:solidFill>
              <a:schemeClr val="accent4"/>
            </a:solidFill>
            <a:prstDash val="solid"/>
          </a:ln>
        </p:spPr>
      </p:sp>
      <p:sp>
        <p:nvSpPr>
          <p:cNvPr id="11" name="Model number 2"/>
          <p:cNvSpPr txBox="1"/>
          <p:nvPr/>
        </p:nvSpPr>
        <p:spPr>
          <a:xfrm>
            <a:off x="4846320" y="1325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Model name 2"/>
          <p:cNvSpPr txBox="1"/>
          <p:nvPr/>
        </p:nvSpPr>
        <p:spPr>
          <a:xfrm>
            <a:off x="5394960" y="132588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K-Nearest Neighbors</a:t>
            </a:r>
            <a:endParaRPr lang="en-US" sz="1700" dirty="0"/>
          </a:p>
        </p:txBody>
      </p:sp>
      <p:sp>
        <p:nvSpPr>
          <p:cNvPr id="13" name="Model formula 2"/>
          <p:cNvSpPr txBox="1"/>
          <p:nvPr/>
        </p:nvSpPr>
        <p:spPr>
          <a:xfrm>
            <a:off x="4846320" y="1856232"/>
            <a:ext cx="365760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p = mean label of k nearest</a:t>
            </a:r>
            <a:endParaRPr lang="en-US" sz="1400" dirty="0"/>
          </a:p>
        </p:txBody>
      </p:sp>
      <p:sp>
        <p:nvSpPr>
          <p:cNvPr id="14" name="Model idea 2"/>
          <p:cNvSpPr txBox="1"/>
          <p:nvPr/>
        </p:nvSpPr>
        <p:spPr>
          <a:xfrm>
            <a:off x="4846320" y="2167128"/>
            <a:ext cx="3657600" cy="502920"/>
          </a:xfrm>
          <a:prstGeom prst="rect">
            <a:avLst/>
          </a:prstGeom>
          <a:noFill/>
          <a:ln/>
        </p:spPr>
        <p:txBody>
          <a:bodyPr wrap="square" lIns="0" tIns="0" rIns="0" bIns="0" rtlCol="0" anchor="t"/>
          <a:lstStyle/>
          <a:p>
            <a:pPr indent="0" marL="0">
              <a:buNone/>
            </a:pPr>
            <a:r>
              <a:rPr lang="en-US" sz="1300" dirty="0">
                <a:solidFill>
                  <a:schemeClr val="tx1"/>
                </a:solidFill>
              </a:rPr>
              <a:t>Ask the 31 most similar customers what they did.</a:t>
            </a:r>
            <a:endParaRPr lang="en-US" sz="1300" dirty="0"/>
          </a:p>
        </p:txBody>
      </p:sp>
      <p:sp>
        <p:nvSpPr>
          <p:cNvPr id="15" name="Model card 3"/>
          <p:cNvSpPr/>
          <p:nvPr/>
        </p:nvSpPr>
        <p:spPr>
          <a:xfrm>
            <a:off x="457200" y="2880360"/>
            <a:ext cx="4023360" cy="1600200"/>
          </a:xfrm>
          <a:prstGeom prst="roundRect">
            <a:avLst>
              <a:gd name="adj" fmla="val 4571"/>
            </a:avLst>
          </a:prstGeom>
          <a:solidFill>
            <a:schemeClr val="bg2"/>
          </a:solidFill>
          <a:ln w="12700">
            <a:solidFill>
              <a:schemeClr val="bg2"/>
            </a:solidFill>
            <a:prstDash val="solid"/>
          </a:ln>
        </p:spPr>
      </p:sp>
      <p:sp>
        <p:nvSpPr>
          <p:cNvPr id="16" name="Model marker 3"/>
          <p:cNvSpPr/>
          <p:nvPr/>
        </p:nvSpPr>
        <p:spPr>
          <a:xfrm>
            <a:off x="640080" y="3063240"/>
            <a:ext cx="411480" cy="411480"/>
          </a:xfrm>
          <a:prstGeom prst="ellipse">
            <a:avLst/>
          </a:prstGeom>
          <a:solidFill>
            <a:schemeClr val="accent5"/>
          </a:solidFill>
          <a:ln w="12700">
            <a:solidFill>
              <a:schemeClr val="accent5"/>
            </a:solidFill>
            <a:prstDash val="solid"/>
          </a:ln>
        </p:spPr>
      </p:sp>
      <p:sp>
        <p:nvSpPr>
          <p:cNvPr id="17" name="Model number 3"/>
          <p:cNvSpPr txBox="1"/>
          <p:nvPr/>
        </p:nvSpPr>
        <p:spPr>
          <a:xfrm>
            <a:off x="640080" y="30632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Model name 3"/>
          <p:cNvSpPr txBox="1"/>
          <p:nvPr/>
        </p:nvSpPr>
        <p:spPr>
          <a:xfrm>
            <a:off x="1188720" y="306324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Gaussian Naive Bayes</a:t>
            </a:r>
            <a:endParaRPr lang="en-US" sz="1700" dirty="0"/>
          </a:p>
        </p:txBody>
      </p:sp>
      <p:sp>
        <p:nvSpPr>
          <p:cNvPr id="19" name="Model formula 3"/>
          <p:cNvSpPr txBox="1"/>
          <p:nvPr/>
        </p:nvSpPr>
        <p:spPr>
          <a:xfrm>
            <a:off x="640080" y="3593592"/>
            <a:ext cx="365760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P(y|x) ∝ P(y) · Π N(xⱼ)</a:t>
            </a:r>
            <a:endParaRPr lang="en-US" sz="1400" dirty="0"/>
          </a:p>
        </p:txBody>
      </p:sp>
      <p:sp>
        <p:nvSpPr>
          <p:cNvPr id="20" name="Model idea 3"/>
          <p:cNvSpPr txBox="1"/>
          <p:nvPr/>
        </p:nvSpPr>
        <p:spPr>
          <a:xfrm>
            <a:off x="640080" y="3904488"/>
            <a:ext cx="3657600" cy="502920"/>
          </a:xfrm>
          <a:prstGeom prst="rect">
            <a:avLst/>
          </a:prstGeom>
          <a:noFill/>
          <a:ln/>
        </p:spPr>
        <p:txBody>
          <a:bodyPr wrap="square" lIns="0" tIns="0" rIns="0" bIns="0" rtlCol="0" anchor="t"/>
          <a:lstStyle/>
          <a:p>
            <a:pPr indent="0" marL="0">
              <a:buNone/>
            </a:pPr>
            <a:r>
              <a:rPr lang="en-US" sz="1300" dirty="0">
                <a:solidFill>
                  <a:schemeClr val="tx1"/>
                </a:solidFill>
              </a:rPr>
              <a:t>Bayes' rule with independent Gaussian features, in log space.</a:t>
            </a:r>
            <a:endParaRPr lang="en-US" sz="1300" dirty="0"/>
          </a:p>
        </p:txBody>
      </p:sp>
      <p:sp>
        <p:nvSpPr>
          <p:cNvPr id="21" name="Model card 4"/>
          <p:cNvSpPr/>
          <p:nvPr/>
        </p:nvSpPr>
        <p:spPr>
          <a:xfrm>
            <a:off x="4663440" y="2880360"/>
            <a:ext cx="4023360" cy="1600200"/>
          </a:xfrm>
          <a:prstGeom prst="roundRect">
            <a:avLst>
              <a:gd name="adj" fmla="val 4571"/>
            </a:avLst>
          </a:prstGeom>
          <a:solidFill>
            <a:schemeClr val="bg2"/>
          </a:solidFill>
          <a:ln w="12700">
            <a:solidFill>
              <a:schemeClr val="bg2"/>
            </a:solidFill>
            <a:prstDash val="solid"/>
          </a:ln>
        </p:spPr>
      </p:sp>
      <p:sp>
        <p:nvSpPr>
          <p:cNvPr id="22" name="Model marker 4"/>
          <p:cNvSpPr/>
          <p:nvPr/>
        </p:nvSpPr>
        <p:spPr>
          <a:xfrm>
            <a:off x="4846320" y="3063240"/>
            <a:ext cx="411480" cy="411480"/>
          </a:xfrm>
          <a:prstGeom prst="ellipse">
            <a:avLst/>
          </a:prstGeom>
          <a:solidFill>
            <a:schemeClr val="accent2"/>
          </a:solidFill>
          <a:ln w="12700">
            <a:solidFill>
              <a:schemeClr val="accent2"/>
            </a:solidFill>
            <a:prstDash val="solid"/>
          </a:ln>
        </p:spPr>
      </p:sp>
      <p:sp>
        <p:nvSpPr>
          <p:cNvPr id="23" name="Model number 4"/>
          <p:cNvSpPr txBox="1"/>
          <p:nvPr/>
        </p:nvSpPr>
        <p:spPr>
          <a:xfrm>
            <a:off x="4846320" y="30632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Model name 4"/>
          <p:cNvSpPr txBox="1"/>
          <p:nvPr/>
        </p:nvSpPr>
        <p:spPr>
          <a:xfrm>
            <a:off x="5394960" y="3063240"/>
            <a:ext cx="3108960" cy="411480"/>
          </a:xfrm>
          <a:prstGeom prst="rect">
            <a:avLst/>
          </a:prstGeom>
          <a:noFill/>
          <a:ln/>
        </p:spPr>
        <p:txBody>
          <a:bodyPr wrap="square" lIns="0" tIns="0" rIns="0" bIns="0" rtlCol="0" anchor="ctr"/>
          <a:lstStyle/>
          <a:p>
            <a:pPr indent="0" marL="0">
              <a:buNone/>
            </a:pPr>
            <a:r>
              <a:rPr lang="en-US" sz="1700" b="1" dirty="0">
                <a:solidFill>
                  <a:schemeClr val="tx1"/>
                </a:solidFill>
              </a:rPr>
              <a:t>Decision Tree (CART)</a:t>
            </a:r>
            <a:endParaRPr lang="en-US" sz="1700" dirty="0"/>
          </a:p>
        </p:txBody>
      </p:sp>
      <p:sp>
        <p:nvSpPr>
          <p:cNvPr id="25" name="Model formula 4"/>
          <p:cNvSpPr txBox="1"/>
          <p:nvPr/>
        </p:nvSpPr>
        <p:spPr>
          <a:xfrm>
            <a:off x="4846320" y="3593592"/>
            <a:ext cx="3657600" cy="320040"/>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split to maximise Gini gain</a:t>
            </a:r>
            <a:endParaRPr lang="en-US" sz="1400" dirty="0"/>
          </a:p>
        </p:txBody>
      </p:sp>
      <p:sp>
        <p:nvSpPr>
          <p:cNvPr id="26" name="Model idea 4"/>
          <p:cNvSpPr txBox="1"/>
          <p:nvPr/>
        </p:nvSpPr>
        <p:spPr>
          <a:xfrm>
            <a:off x="4846320" y="3904488"/>
            <a:ext cx="3657600" cy="502920"/>
          </a:xfrm>
          <a:prstGeom prst="rect">
            <a:avLst/>
          </a:prstGeom>
          <a:noFill/>
          <a:ln/>
        </p:spPr>
        <p:txBody>
          <a:bodyPr wrap="square" lIns="0" tIns="0" rIns="0" bIns="0" rtlCol="0" anchor="t"/>
          <a:lstStyle/>
          <a:p>
            <a:pPr indent="0" marL="0">
              <a:buNone/>
            </a:pPr>
            <a:r>
              <a:rPr lang="en-US" sz="1300" dirty="0">
                <a:solidFill>
                  <a:schemeClr val="tx1"/>
                </a:solidFill>
              </a:rPr>
              <a:t>Ask the yes/no question that makes groups purest, then repeat.</a:t>
            </a:r>
            <a:endParaRPr lang="en-US" sz="1300" dirty="0"/>
          </a:p>
        </p:txBody>
      </p:sp>
      <p:sp>
        <p:nvSpPr>
          <p:cNvPr id="27" name="Models footnote"/>
          <p:cNvSpPr txBox="1"/>
          <p:nvPr/>
        </p:nvSpPr>
        <p:spPr>
          <a:xfrm>
            <a:off x="457200" y="4617720"/>
            <a:ext cx="7680960" cy="274320"/>
          </a:xfrm>
          <a:prstGeom prst="rect">
            <a:avLst/>
          </a:prstGeom>
          <a:noFill/>
          <a:ln/>
        </p:spPr>
        <p:txBody>
          <a:bodyPr wrap="square" lIns="0" tIns="0" rIns="0" bIns="0" rtlCol="0" anchor="ctr"/>
          <a:lstStyle/>
          <a:p>
            <a:pPr indent="0" marL="0">
              <a:buNone/>
            </a:pPr>
            <a:r>
              <a:rPr lang="en-US" sz="1200" dirty="0">
                <a:solidFill>
                  <a:schemeClr val="accent6"/>
                </a:solidFill>
              </a:rPr>
              <a:t>Plus K-means (k-means++) and PCA for customer segments.</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Inside logistic regression</a:t>
            </a:r>
            <a:endParaRPr lang="en-US" sz="3000" dirty="0"/>
          </a:p>
        </p:txBody>
      </p:sp>
      <p:sp>
        <p:nvSpPr>
          <p:cNvPr id="3" name="Math row 1"/>
          <p:cNvSpPr/>
          <p:nvPr/>
        </p:nvSpPr>
        <p:spPr>
          <a:xfrm>
            <a:off x="457200" y="1143000"/>
            <a:ext cx="4480560" cy="594360"/>
          </a:xfrm>
          <a:prstGeom prst="roundRect">
            <a:avLst>
              <a:gd name="adj" fmla="val 12308"/>
            </a:avLst>
          </a:prstGeom>
          <a:solidFill>
            <a:schemeClr val="bg2"/>
          </a:solidFill>
          <a:ln w="12700">
            <a:solidFill>
              <a:schemeClr val="bg2"/>
            </a:solidFill>
            <a:prstDash val="solid"/>
          </a:ln>
        </p:spPr>
      </p:sp>
      <p:sp>
        <p:nvSpPr>
          <p:cNvPr id="4" name="Math marker 1"/>
          <p:cNvSpPr/>
          <p:nvPr/>
        </p:nvSpPr>
        <p:spPr>
          <a:xfrm>
            <a:off x="566928" y="1252728"/>
            <a:ext cx="374904" cy="374904"/>
          </a:xfrm>
          <a:prstGeom prst="ellipse">
            <a:avLst/>
          </a:prstGeom>
          <a:solidFill>
            <a:schemeClr val="accent1"/>
          </a:solidFill>
          <a:ln w="12700">
            <a:solidFill>
              <a:schemeClr val="accent1"/>
            </a:solidFill>
            <a:prstDash val="solid"/>
          </a:ln>
        </p:spPr>
      </p:sp>
      <p:sp>
        <p:nvSpPr>
          <p:cNvPr id="5" name="Math number 1"/>
          <p:cNvSpPr txBox="1"/>
          <p:nvPr/>
        </p:nvSpPr>
        <p:spPr>
          <a:xfrm>
            <a:off x="566928" y="1252728"/>
            <a:ext cx="374904" cy="37490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Math name 1"/>
          <p:cNvSpPr txBox="1"/>
          <p:nvPr/>
        </p:nvSpPr>
        <p:spPr>
          <a:xfrm>
            <a:off x="1051560" y="1143000"/>
            <a:ext cx="1051560" cy="594360"/>
          </a:xfrm>
          <a:prstGeom prst="rect">
            <a:avLst/>
          </a:prstGeom>
          <a:noFill/>
          <a:ln/>
        </p:spPr>
        <p:txBody>
          <a:bodyPr wrap="square" lIns="0" tIns="0" rIns="0" bIns="0" rtlCol="0" anchor="ctr"/>
          <a:lstStyle/>
          <a:p>
            <a:pPr indent="0" marL="0">
              <a:buNone/>
            </a:pPr>
            <a:r>
              <a:rPr lang="en-US" sz="1300" b="1" dirty="0">
                <a:solidFill>
                  <a:schemeClr val="tx1"/>
                </a:solidFill>
              </a:rPr>
              <a:t>Score</a:t>
            </a:r>
            <a:endParaRPr lang="en-US" sz="1300" dirty="0"/>
          </a:p>
        </p:txBody>
      </p:sp>
      <p:sp>
        <p:nvSpPr>
          <p:cNvPr id="7" name="Math formula 1"/>
          <p:cNvSpPr txBox="1"/>
          <p:nvPr/>
        </p:nvSpPr>
        <p:spPr>
          <a:xfrm>
            <a:off x="2103120" y="1143000"/>
            <a:ext cx="2788920" cy="594360"/>
          </a:xfrm>
          <a:prstGeom prst="rect">
            <a:avLst/>
          </a:prstGeom>
          <a:noFill/>
          <a:ln/>
        </p:spPr>
        <p:txBody>
          <a:bodyPr wrap="square" lIns="0" tIns="0" rIns="0" bIns="0" rtlCol="0" anchor="ctr"/>
          <a:lstStyle/>
          <a:p>
            <a:pPr indent="0" marL="0">
              <a:buNone/>
            </a:pPr>
            <a:r>
              <a:rPr lang="en-US" sz="1400" dirty="0">
                <a:solidFill>
                  <a:schemeClr val="tx1"/>
                </a:solidFill>
                <a:latin typeface="Cambria" pitchFamily="34" charset="0"/>
                <a:ea typeface="Cambria" pitchFamily="34" charset="-122"/>
                <a:cs typeface="Cambria" pitchFamily="34" charset="-120"/>
              </a:rPr>
              <a:t>z = w·x + b</a:t>
            </a:r>
            <a:endParaRPr lang="en-US" sz="1400" dirty="0"/>
          </a:p>
        </p:txBody>
      </p:sp>
      <p:sp>
        <p:nvSpPr>
          <p:cNvPr id="8" name="Math row 2"/>
          <p:cNvSpPr/>
          <p:nvPr/>
        </p:nvSpPr>
        <p:spPr>
          <a:xfrm>
            <a:off x="457200" y="1828800"/>
            <a:ext cx="4480560" cy="594360"/>
          </a:xfrm>
          <a:prstGeom prst="roundRect">
            <a:avLst>
              <a:gd name="adj" fmla="val 12308"/>
            </a:avLst>
          </a:prstGeom>
          <a:solidFill>
            <a:schemeClr val="bg2"/>
          </a:solidFill>
          <a:ln w="12700">
            <a:solidFill>
              <a:schemeClr val="bg2"/>
            </a:solidFill>
            <a:prstDash val="solid"/>
          </a:ln>
        </p:spPr>
      </p:sp>
      <p:sp>
        <p:nvSpPr>
          <p:cNvPr id="9" name="Math marker 2"/>
          <p:cNvSpPr/>
          <p:nvPr/>
        </p:nvSpPr>
        <p:spPr>
          <a:xfrm>
            <a:off x="566928" y="1938528"/>
            <a:ext cx="374904" cy="374904"/>
          </a:xfrm>
          <a:prstGeom prst="ellipse">
            <a:avLst/>
          </a:prstGeom>
          <a:solidFill>
            <a:schemeClr val="accent1"/>
          </a:solidFill>
          <a:ln w="12700">
            <a:solidFill>
              <a:schemeClr val="accent1"/>
            </a:solidFill>
            <a:prstDash val="solid"/>
          </a:ln>
        </p:spPr>
      </p:sp>
      <p:sp>
        <p:nvSpPr>
          <p:cNvPr id="10" name="Math number 2"/>
          <p:cNvSpPr txBox="1"/>
          <p:nvPr/>
        </p:nvSpPr>
        <p:spPr>
          <a:xfrm>
            <a:off x="566928" y="1938528"/>
            <a:ext cx="374904" cy="37490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1" name="Math name 2"/>
          <p:cNvSpPr txBox="1"/>
          <p:nvPr/>
        </p:nvSpPr>
        <p:spPr>
          <a:xfrm>
            <a:off x="1051560" y="1828800"/>
            <a:ext cx="1051560" cy="594360"/>
          </a:xfrm>
          <a:prstGeom prst="rect">
            <a:avLst/>
          </a:prstGeom>
          <a:noFill/>
          <a:ln/>
        </p:spPr>
        <p:txBody>
          <a:bodyPr wrap="square" lIns="0" tIns="0" rIns="0" bIns="0" rtlCol="0" anchor="ctr"/>
          <a:lstStyle/>
          <a:p>
            <a:pPr indent="0" marL="0">
              <a:buNone/>
            </a:pPr>
            <a:r>
              <a:rPr lang="en-US" sz="1300" b="1" dirty="0">
                <a:solidFill>
                  <a:schemeClr val="tx1"/>
                </a:solidFill>
              </a:rPr>
              <a:t>Probability</a:t>
            </a:r>
            <a:endParaRPr lang="en-US" sz="1300" dirty="0"/>
          </a:p>
        </p:txBody>
      </p:sp>
      <p:sp>
        <p:nvSpPr>
          <p:cNvPr id="12" name="Math formula 2"/>
          <p:cNvSpPr txBox="1"/>
          <p:nvPr/>
        </p:nvSpPr>
        <p:spPr>
          <a:xfrm>
            <a:off x="2103120" y="1828800"/>
            <a:ext cx="2788920" cy="594360"/>
          </a:xfrm>
          <a:prstGeom prst="rect">
            <a:avLst/>
          </a:prstGeom>
          <a:noFill/>
          <a:ln/>
        </p:spPr>
        <p:txBody>
          <a:bodyPr wrap="square" lIns="0" tIns="0" rIns="0" bIns="0" rtlCol="0" anchor="ctr"/>
          <a:lstStyle/>
          <a:p>
            <a:pPr indent="0" marL="0">
              <a:buNone/>
            </a:pPr>
            <a:r>
              <a:rPr lang="en-US" sz="1400" dirty="0">
                <a:solidFill>
                  <a:schemeClr val="tx1"/>
                </a:solidFill>
                <a:latin typeface="Cambria" pitchFamily="34" charset="0"/>
                <a:ea typeface="Cambria" pitchFamily="34" charset="-122"/>
                <a:cs typeface="Cambria" pitchFamily="34" charset="-120"/>
              </a:rPr>
              <a:t>p = 1 / (1 + e^-z)</a:t>
            </a:r>
            <a:endParaRPr lang="en-US" sz="1400" dirty="0"/>
          </a:p>
        </p:txBody>
      </p:sp>
      <p:sp>
        <p:nvSpPr>
          <p:cNvPr id="13" name="Math row 3"/>
          <p:cNvSpPr/>
          <p:nvPr/>
        </p:nvSpPr>
        <p:spPr>
          <a:xfrm>
            <a:off x="457200" y="2514600"/>
            <a:ext cx="4480560" cy="594360"/>
          </a:xfrm>
          <a:prstGeom prst="roundRect">
            <a:avLst>
              <a:gd name="adj" fmla="val 12308"/>
            </a:avLst>
          </a:prstGeom>
          <a:solidFill>
            <a:schemeClr val="bg2"/>
          </a:solidFill>
          <a:ln w="12700">
            <a:solidFill>
              <a:schemeClr val="bg2"/>
            </a:solidFill>
            <a:prstDash val="solid"/>
          </a:ln>
        </p:spPr>
      </p:sp>
      <p:sp>
        <p:nvSpPr>
          <p:cNvPr id="14" name="Math marker 3"/>
          <p:cNvSpPr/>
          <p:nvPr/>
        </p:nvSpPr>
        <p:spPr>
          <a:xfrm>
            <a:off x="566928" y="2624328"/>
            <a:ext cx="374904" cy="374904"/>
          </a:xfrm>
          <a:prstGeom prst="ellipse">
            <a:avLst/>
          </a:prstGeom>
          <a:solidFill>
            <a:schemeClr val="accent1"/>
          </a:solidFill>
          <a:ln w="12700">
            <a:solidFill>
              <a:schemeClr val="accent1"/>
            </a:solidFill>
            <a:prstDash val="solid"/>
          </a:ln>
        </p:spPr>
      </p:sp>
      <p:sp>
        <p:nvSpPr>
          <p:cNvPr id="15" name="Math number 3"/>
          <p:cNvSpPr txBox="1"/>
          <p:nvPr/>
        </p:nvSpPr>
        <p:spPr>
          <a:xfrm>
            <a:off x="566928" y="2624328"/>
            <a:ext cx="374904" cy="37490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Math name 3"/>
          <p:cNvSpPr txBox="1"/>
          <p:nvPr/>
        </p:nvSpPr>
        <p:spPr>
          <a:xfrm>
            <a:off x="1051560" y="2514600"/>
            <a:ext cx="1051560" cy="594360"/>
          </a:xfrm>
          <a:prstGeom prst="rect">
            <a:avLst/>
          </a:prstGeom>
          <a:noFill/>
          <a:ln/>
        </p:spPr>
        <p:txBody>
          <a:bodyPr wrap="square" lIns="0" tIns="0" rIns="0" bIns="0" rtlCol="0" anchor="ctr"/>
          <a:lstStyle/>
          <a:p>
            <a:pPr indent="0" marL="0">
              <a:buNone/>
            </a:pPr>
            <a:r>
              <a:rPr lang="en-US" sz="1300" b="1" dirty="0">
                <a:solidFill>
                  <a:schemeClr val="tx1"/>
                </a:solidFill>
              </a:rPr>
              <a:t>Loss</a:t>
            </a:r>
            <a:endParaRPr lang="en-US" sz="1300" dirty="0"/>
          </a:p>
        </p:txBody>
      </p:sp>
      <p:sp>
        <p:nvSpPr>
          <p:cNvPr id="17" name="Math formula 3"/>
          <p:cNvSpPr txBox="1"/>
          <p:nvPr/>
        </p:nvSpPr>
        <p:spPr>
          <a:xfrm>
            <a:off x="2103120" y="2514600"/>
            <a:ext cx="2788920" cy="594360"/>
          </a:xfrm>
          <a:prstGeom prst="rect">
            <a:avLst/>
          </a:prstGeom>
          <a:noFill/>
          <a:ln/>
        </p:spPr>
        <p:txBody>
          <a:bodyPr wrap="square" lIns="0" tIns="0" rIns="0" bIns="0" rtlCol="0" anchor="ctr"/>
          <a:lstStyle/>
          <a:p>
            <a:pPr indent="0" marL="0">
              <a:buNone/>
            </a:pPr>
            <a:r>
              <a:rPr lang="en-US" sz="1200" dirty="0">
                <a:solidFill>
                  <a:schemeClr val="tx1"/>
                </a:solidFill>
                <a:latin typeface="Cambria" pitchFamily="34" charset="0"/>
                <a:ea typeface="Cambria" pitchFamily="34" charset="-122"/>
                <a:cs typeface="Cambria" pitchFamily="34" charset="-120"/>
              </a:rPr>
              <a:t>L = -mean[ y·log p + (1-y)·log(1-p) ]</a:t>
            </a:r>
            <a:endParaRPr lang="en-US" sz="1200" dirty="0"/>
          </a:p>
        </p:txBody>
      </p:sp>
      <p:sp>
        <p:nvSpPr>
          <p:cNvPr id="18" name="Math row 4"/>
          <p:cNvSpPr/>
          <p:nvPr/>
        </p:nvSpPr>
        <p:spPr>
          <a:xfrm>
            <a:off x="457200" y="3200400"/>
            <a:ext cx="4480560" cy="594360"/>
          </a:xfrm>
          <a:prstGeom prst="roundRect">
            <a:avLst>
              <a:gd name="adj" fmla="val 12308"/>
            </a:avLst>
          </a:prstGeom>
          <a:solidFill>
            <a:schemeClr val="bg2"/>
          </a:solidFill>
          <a:ln w="12700">
            <a:solidFill>
              <a:schemeClr val="bg2"/>
            </a:solidFill>
            <a:prstDash val="solid"/>
          </a:ln>
        </p:spPr>
      </p:sp>
      <p:sp>
        <p:nvSpPr>
          <p:cNvPr id="19" name="Math marker 4"/>
          <p:cNvSpPr/>
          <p:nvPr/>
        </p:nvSpPr>
        <p:spPr>
          <a:xfrm>
            <a:off x="566928" y="3310128"/>
            <a:ext cx="374904" cy="374904"/>
          </a:xfrm>
          <a:prstGeom prst="ellipse">
            <a:avLst/>
          </a:prstGeom>
          <a:solidFill>
            <a:schemeClr val="accent1"/>
          </a:solidFill>
          <a:ln w="12700">
            <a:solidFill>
              <a:schemeClr val="accent1"/>
            </a:solidFill>
            <a:prstDash val="solid"/>
          </a:ln>
        </p:spPr>
      </p:sp>
      <p:sp>
        <p:nvSpPr>
          <p:cNvPr id="20" name="Math number 4"/>
          <p:cNvSpPr txBox="1"/>
          <p:nvPr/>
        </p:nvSpPr>
        <p:spPr>
          <a:xfrm>
            <a:off x="566928" y="3310128"/>
            <a:ext cx="374904" cy="37490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1" name="Math name 4"/>
          <p:cNvSpPr txBox="1"/>
          <p:nvPr/>
        </p:nvSpPr>
        <p:spPr>
          <a:xfrm>
            <a:off x="1051560" y="3200400"/>
            <a:ext cx="1051560" cy="594360"/>
          </a:xfrm>
          <a:prstGeom prst="rect">
            <a:avLst/>
          </a:prstGeom>
          <a:noFill/>
          <a:ln/>
        </p:spPr>
        <p:txBody>
          <a:bodyPr wrap="square" lIns="0" tIns="0" rIns="0" bIns="0" rtlCol="0" anchor="ctr"/>
          <a:lstStyle/>
          <a:p>
            <a:pPr indent="0" marL="0">
              <a:buNone/>
            </a:pPr>
            <a:r>
              <a:rPr lang="en-US" sz="1300" b="1" dirty="0">
                <a:solidFill>
                  <a:schemeClr val="tx1"/>
                </a:solidFill>
              </a:rPr>
              <a:t>Gradient</a:t>
            </a:r>
            <a:endParaRPr lang="en-US" sz="1300" dirty="0"/>
          </a:p>
        </p:txBody>
      </p:sp>
      <p:sp>
        <p:nvSpPr>
          <p:cNvPr id="22" name="Math formula 4"/>
          <p:cNvSpPr txBox="1"/>
          <p:nvPr/>
        </p:nvSpPr>
        <p:spPr>
          <a:xfrm>
            <a:off x="2103120" y="3200400"/>
            <a:ext cx="2788920" cy="594360"/>
          </a:xfrm>
          <a:prstGeom prst="rect">
            <a:avLst/>
          </a:prstGeom>
          <a:noFill/>
          <a:ln/>
        </p:spPr>
        <p:txBody>
          <a:bodyPr wrap="square" lIns="0" tIns="0" rIns="0" bIns="0" rtlCol="0" anchor="ctr"/>
          <a:lstStyle/>
          <a:p>
            <a:pPr indent="0" marL="0">
              <a:buNone/>
            </a:pPr>
            <a:r>
              <a:rPr lang="en-US" sz="1400" dirty="0">
                <a:solidFill>
                  <a:schemeClr val="tx1"/>
                </a:solidFill>
                <a:latin typeface="Cambria" pitchFamily="34" charset="0"/>
                <a:ea typeface="Cambria" pitchFamily="34" charset="-122"/>
                <a:cs typeface="Cambria" pitchFamily="34" charset="-120"/>
              </a:rPr>
              <a:t>dL/dw = Xᵀ(p - y) / m</a:t>
            </a:r>
            <a:endParaRPr lang="en-US" sz="1400" dirty="0"/>
          </a:p>
        </p:txBody>
      </p:sp>
      <p:sp>
        <p:nvSpPr>
          <p:cNvPr id="23" name="Math row 5"/>
          <p:cNvSpPr/>
          <p:nvPr/>
        </p:nvSpPr>
        <p:spPr>
          <a:xfrm>
            <a:off x="457200" y="3886200"/>
            <a:ext cx="4480560" cy="594360"/>
          </a:xfrm>
          <a:prstGeom prst="roundRect">
            <a:avLst>
              <a:gd name="adj" fmla="val 12308"/>
            </a:avLst>
          </a:prstGeom>
          <a:solidFill>
            <a:schemeClr val="bg2"/>
          </a:solidFill>
          <a:ln w="12700">
            <a:solidFill>
              <a:schemeClr val="bg2"/>
            </a:solidFill>
            <a:prstDash val="solid"/>
          </a:ln>
        </p:spPr>
      </p:sp>
      <p:sp>
        <p:nvSpPr>
          <p:cNvPr id="24" name="Math marker 5"/>
          <p:cNvSpPr/>
          <p:nvPr/>
        </p:nvSpPr>
        <p:spPr>
          <a:xfrm>
            <a:off x="566928" y="3995928"/>
            <a:ext cx="374904" cy="374904"/>
          </a:xfrm>
          <a:prstGeom prst="ellipse">
            <a:avLst/>
          </a:prstGeom>
          <a:solidFill>
            <a:schemeClr val="accent1"/>
          </a:solidFill>
          <a:ln w="12700">
            <a:solidFill>
              <a:schemeClr val="accent1"/>
            </a:solidFill>
            <a:prstDash val="solid"/>
          </a:ln>
        </p:spPr>
      </p:sp>
      <p:sp>
        <p:nvSpPr>
          <p:cNvPr id="25" name="Math number 5"/>
          <p:cNvSpPr txBox="1"/>
          <p:nvPr/>
        </p:nvSpPr>
        <p:spPr>
          <a:xfrm>
            <a:off x="566928" y="3995928"/>
            <a:ext cx="374904" cy="37490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6" name="Math name 5"/>
          <p:cNvSpPr txBox="1"/>
          <p:nvPr/>
        </p:nvSpPr>
        <p:spPr>
          <a:xfrm>
            <a:off x="1051560" y="3886200"/>
            <a:ext cx="1051560" cy="594360"/>
          </a:xfrm>
          <a:prstGeom prst="rect">
            <a:avLst/>
          </a:prstGeom>
          <a:noFill/>
          <a:ln/>
        </p:spPr>
        <p:txBody>
          <a:bodyPr wrap="square" lIns="0" tIns="0" rIns="0" bIns="0" rtlCol="0" anchor="ctr"/>
          <a:lstStyle/>
          <a:p>
            <a:pPr indent="0" marL="0">
              <a:buNone/>
            </a:pPr>
            <a:r>
              <a:rPr lang="en-US" sz="1300" b="1" dirty="0">
                <a:solidFill>
                  <a:schemeClr val="tx1"/>
                </a:solidFill>
              </a:rPr>
              <a:t>Update</a:t>
            </a:r>
            <a:endParaRPr lang="en-US" sz="1300" dirty="0"/>
          </a:p>
        </p:txBody>
      </p:sp>
      <p:sp>
        <p:nvSpPr>
          <p:cNvPr id="27" name="Math formula 5"/>
          <p:cNvSpPr txBox="1"/>
          <p:nvPr/>
        </p:nvSpPr>
        <p:spPr>
          <a:xfrm>
            <a:off x="2103120" y="3886200"/>
            <a:ext cx="2788920" cy="594360"/>
          </a:xfrm>
          <a:prstGeom prst="rect">
            <a:avLst/>
          </a:prstGeom>
          <a:noFill/>
          <a:ln/>
        </p:spPr>
        <p:txBody>
          <a:bodyPr wrap="square" lIns="0" tIns="0" rIns="0" bIns="0" rtlCol="0" anchor="ctr"/>
          <a:lstStyle/>
          <a:p>
            <a:pPr indent="0" marL="0">
              <a:buNone/>
            </a:pPr>
            <a:r>
              <a:rPr lang="en-US" sz="1400" dirty="0">
                <a:solidFill>
                  <a:schemeClr val="tx1"/>
                </a:solidFill>
                <a:latin typeface="Cambria" pitchFamily="34" charset="0"/>
                <a:ea typeface="Cambria" pitchFamily="34" charset="-122"/>
                <a:cs typeface="Cambria" pitchFamily="34" charset="-120"/>
              </a:rPr>
              <a:t>w ← w - η · dL/dw</a:t>
            </a:r>
            <a:endParaRPr lang="en-US" sz="1400" dirty="0"/>
          </a:p>
        </p:txBody>
      </p:sp>
      <p:graphicFrame>
        <p:nvGraphicFramePr>
          <p:cNvPr id="28" name="Chart 0" descr=""/>
          <p:cNvGraphicFramePr/>
          <p:nvPr/>
        </p:nvGraphicFramePr>
        <p:xfrm>
          <a:off x="5120640" y="1051560"/>
          <a:ext cx="3566160" cy="2788920"/>
        </p:xfrm>
        <a:graphic xmlns:a="http://schemas.openxmlformats.org/drawingml/2006/main">
          <a:graphicData uri="http://schemas.openxmlformats.org/drawingml/2006/chart">
            <c:chart xmlns:c="http://schemas.openxmlformats.org/drawingml/2006/chart" r:id="rId1"/>
          </a:graphicData>
        </a:graphic>
      </p:graphicFrame>
      <p:sp>
        <p:nvSpPr>
          <p:cNvPr id="29" name="Coefficient note"/>
          <p:cNvSpPr txBox="1"/>
          <p:nvPr/>
        </p:nvSpPr>
        <p:spPr>
          <a:xfrm>
            <a:off x="5120640" y="3840480"/>
            <a:ext cx="3566160" cy="822960"/>
          </a:xfrm>
          <a:prstGeom prst="rect">
            <a:avLst/>
          </a:prstGeom>
          <a:noFill/>
          <a:ln/>
        </p:spPr>
        <p:txBody>
          <a:bodyPr wrap="square" lIns="0" tIns="0" rIns="0" bIns="0" rtlCol="0" anchor="t"/>
          <a:lstStyle/>
          <a:p>
            <a:pPr indent="0" marL="0">
              <a:buNone/>
            </a:pPr>
            <a:r>
              <a:rPr lang="en-US" sz="1300" dirty="0">
                <a:solidFill>
                  <a:schemeClr val="tx1"/>
                </a:solidFill>
              </a:rPr>
              <a:t>Longer tenure and long contracts lower risk. Month-to-month raises it. The loss is convex, so gradient descent finds the global minimum.</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Logistic regression ranks customers best</a:t>
            </a:r>
            <a:endParaRPr lang="en-US" sz="3000" dirty="0"/>
          </a:p>
        </p:txBody>
      </p:sp>
      <p:graphicFrame>
        <p:nvGraphicFramePr>
          <p:cNvPr id="9" name="Results table"/>
          <p:cNvGraphicFramePr>
            <a:graphicFrameLocks noGrp="1"/>
          </p:cNvGraphicFramePr>
          <p:nvPr>
            <p:extLst>
              <p:ext uri="{D42A27DB-BD31-4B8C-83A1-F6EECF244321}">
                <p14:modId xmlns:p14="http://schemas.microsoft.com/office/powerpoint/2010/main" val="1579011935"/>
              </p:ext>
            </p:extLst>
          </p:nvPr>
        </p:nvGraphicFramePr>
        <p:xfrm>
          <a:off x="457200" y="1143000"/>
          <a:ext cx="5029200" cy="914400"/>
        </p:xfrm>
        <a:graphic>
          <a:graphicData uri="http://schemas.openxmlformats.org/drawingml/2006/table">
            <a:tbl>
              <a:tblPr/>
              <a:tblGrid>
                <a:gridCol w="1691640"/>
                <a:gridCol w="548640"/>
                <a:gridCol w="594360"/>
                <a:gridCol w="777240"/>
                <a:gridCol w="640080"/>
                <a:gridCol w="777240"/>
              </a:tblGrid>
              <a:tr h="384048">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1226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AUC</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1226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1226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1226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12263A"/>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12263A"/>
                    </a:solidFill>
                  </a:tcPr>
                </a:tc>
              </a:tr>
              <a:tr h="384048">
                <a:tc>
                  <a:txBody>
                    <a:bodyPr/>
                    <a:lstStyle/>
                    <a:p>
                      <a:pPr algn="l" indent="0" marL="0">
                        <a:buNone/>
                      </a:pPr>
                      <a:r>
                        <a:rPr lang="en-US" sz="1200" b="1" dirty="0">
                          <a:solidFill>
                            <a:srgbClr val="12263A"/>
                          </a:solidFill>
                          <a:latin typeface="Calibri" pitchFamily="34" charset="0"/>
                          <a:ea typeface="Calibri" pitchFamily="34" charset="-122"/>
                          <a:cs typeface="Calibri" pitchFamily="34" charset="-120"/>
                        </a:rPr>
                        <a:t>Logistic Regression</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0.849</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0.789</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0.534</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0.637</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b="1" dirty="0">
                          <a:solidFill>
                            <a:srgbClr val="12263A"/>
                          </a:solidFill>
                          <a:latin typeface="Calibri" pitchFamily="34" charset="0"/>
                          <a:ea typeface="Calibri" pitchFamily="34" charset="-122"/>
                          <a:cs typeface="Calibri" pitchFamily="34" charset="-120"/>
                        </a:rPr>
                        <a:t>0.761</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r>
              <a:tr h="384048">
                <a:tc>
                  <a:txBody>
                    <a:bodyPr/>
                    <a:lstStyle/>
                    <a:p>
                      <a:pPr algn="l" indent="0" marL="0">
                        <a:buNone/>
                      </a:pPr>
                      <a:r>
                        <a:rPr lang="en-US" sz="1200" dirty="0">
                          <a:solidFill>
                            <a:srgbClr val="12263A"/>
                          </a:solidFill>
                          <a:latin typeface="Calibri" pitchFamily="34" charset="0"/>
                          <a:ea typeface="Calibri" pitchFamily="34" charset="-122"/>
                          <a:cs typeface="Calibri" pitchFamily="34" charset="-120"/>
                        </a:rPr>
                        <a:t>K-Nearest Neighbors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0.839</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0.804</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0.516</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0.628</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0.748</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r h="384048">
                <a:tc>
                  <a:txBody>
                    <a:bodyPr/>
                    <a:lstStyle/>
                    <a:p>
                      <a:pPr algn="l" indent="0" marL="0">
                        <a:buNone/>
                      </a:pPr>
                      <a:r>
                        <a:rPr lang="en-US" sz="1200" dirty="0">
                          <a:solidFill>
                            <a:srgbClr val="12263A"/>
                          </a:solidFill>
                          <a:latin typeface="Calibri" pitchFamily="34" charset="0"/>
                          <a:ea typeface="Calibri" pitchFamily="34" charset="-122"/>
                          <a:cs typeface="Calibri" pitchFamily="34" charset="-120"/>
                        </a:rPr>
                        <a:t>Gaussian Naive Bayes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0.824</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0.811</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0.488</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0.609</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0.724</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EF3F8"/>
                    </a:solidFill>
                  </a:tcPr>
                </a:tc>
              </a:tr>
              <a:tr h="384048">
                <a:tc>
                  <a:txBody>
                    <a:bodyPr/>
                    <a:lstStyle/>
                    <a:p>
                      <a:pPr algn="l" indent="0" marL="0">
                        <a:buNone/>
                      </a:pPr>
                      <a:r>
                        <a:rPr lang="en-US" sz="1200" dirty="0">
                          <a:solidFill>
                            <a:srgbClr val="12263A"/>
                          </a:solidFill>
                          <a:latin typeface="Calibri" pitchFamily="34" charset="0"/>
                          <a:ea typeface="Calibri" pitchFamily="34" charset="-122"/>
                          <a:cs typeface="Calibri" pitchFamily="34" charset="-120"/>
                        </a:rPr>
                        <a:t>Decision Tree</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0.811</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0.768</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0.495</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0.602</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200" dirty="0">
                          <a:solidFill>
                            <a:srgbClr val="12263A"/>
                          </a:solidFill>
                          <a:latin typeface="Calibri" pitchFamily="34" charset="0"/>
                          <a:ea typeface="Calibri" pitchFamily="34" charset="-122"/>
                          <a:cs typeface="Calibri" pitchFamily="34" charset="-120"/>
                        </a:rPr>
                        <a:t>0.731</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FFFFFF"/>
                    </a:solidFill>
                  </a:tcPr>
                </a:tc>
              </a:tr>
            </a:tbl>
          </a:graphicData>
        </a:graphic>
      </p:graphicFrame>
      <p:graphicFrame>
        <p:nvGraphicFramePr>
          <p:cNvPr id="4" name="Chart 0" descr=""/>
          <p:cNvGraphicFramePr/>
          <p:nvPr/>
        </p:nvGraphicFramePr>
        <p:xfrm>
          <a:off x="5669280" y="1051560"/>
          <a:ext cx="3108960" cy="2377440"/>
        </p:xfrm>
        <a:graphic xmlns:a="http://schemas.openxmlformats.org/drawingml/2006/main">
          <a:graphicData uri="http://schemas.openxmlformats.org/drawingml/2006/chart">
            <c:chart xmlns:c="http://schemas.openxmlformats.org/drawingml/2006/chart" r:id="rId1"/>
          </a:graphicData>
        </a:graphic>
      </p:graphicFrame>
      <p:sp>
        <p:nvSpPr>
          <p:cNvPr id="5" name="Takeaway card"/>
          <p:cNvSpPr/>
          <p:nvPr/>
        </p:nvSpPr>
        <p:spPr>
          <a:xfrm>
            <a:off x="457200" y="3337560"/>
            <a:ext cx="5029200" cy="1280160"/>
          </a:xfrm>
          <a:prstGeom prst="roundRect">
            <a:avLst>
              <a:gd name="adj" fmla="val 5714"/>
            </a:avLst>
          </a:prstGeom>
          <a:solidFill>
            <a:schemeClr val="tx1"/>
          </a:solidFill>
          <a:ln w="12700">
            <a:solidFill>
              <a:schemeClr val="tx1"/>
            </a:solidFill>
            <a:prstDash val="solid"/>
          </a:ln>
        </p:spPr>
      </p:sp>
      <p:sp>
        <p:nvSpPr>
          <p:cNvPr id="6" name="Takeaway text"/>
          <p:cNvSpPr txBox="1"/>
          <p:nvPr/>
        </p:nvSpPr>
        <p:spPr>
          <a:xfrm>
            <a:off x="640080" y="3337560"/>
            <a:ext cx="4663440" cy="1280160"/>
          </a:xfrm>
          <a:prstGeom prst="rect">
            <a:avLst/>
          </a:prstGeom>
          <a:noFill/>
          <a:ln/>
        </p:spPr>
        <p:txBody>
          <a:bodyPr wrap="square" lIns="0" tIns="0" rIns="0" bIns="0" rtlCol="0" anchor="ctr"/>
          <a:lstStyle/>
          <a:p>
            <a:pPr indent="0" marL="0">
              <a:buNone/>
            </a:pPr>
            <a:r>
              <a:rPr lang="en-US" sz="1600" b="1" dirty="0">
                <a:solidFill>
                  <a:schemeClr val="accent3"/>
                </a:solidFill>
              </a:rPr>
              <a:t>Recall about 0.79 </a:t>
            </a:r>
            <a:pPr indent="0" marL="0">
              <a:buNone/>
            </a:pPr>
            <a:r>
              <a:rPr lang="en-US" sz="1300" dirty="0">
                <a:solidFill>
                  <a:schemeClr val="bg1"/>
                </a:solidFill>
              </a:rPr>
              <a:t>means roughly 4 in 5 churners are caught. Precision about 0.53 means about half of the flagged customers really would leave.</a:t>
            </a:r>
            <a:endParaRPr lang="en-US" sz="1600" dirty="0"/>
          </a:p>
        </p:txBody>
      </p:sp>
      <p:sp>
        <p:nvSpPr>
          <p:cNvPr id="7" name="Results note"/>
          <p:cNvSpPr txBox="1"/>
          <p:nvPr/>
        </p:nvSpPr>
        <p:spPr>
          <a:xfrm>
            <a:off x="5669280" y="3520440"/>
            <a:ext cx="3108960" cy="1097280"/>
          </a:xfrm>
          <a:prstGeom prst="rect">
            <a:avLst/>
          </a:prstGeom>
          <a:noFill/>
          <a:ln/>
        </p:spPr>
        <p:txBody>
          <a:bodyPr wrap="square" lIns="0" tIns="0" rIns="0" bIns="0" rtlCol="0" anchor="t"/>
          <a:lstStyle/>
          <a:p>
            <a:pPr indent="0" marL="0">
              <a:buNone/>
            </a:pPr>
            <a:r>
              <a:rPr lang="en-US" sz="1200" dirty="0">
                <a:solidFill>
                  <a:schemeClr val="accent6"/>
                </a:solidFill>
              </a:rPr>
              <a:t>Test set: 1,056 customers. Thresholds chosen on validation by best F1. Gaps between models are small, about 0.01 AUC.</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ROC curves and the confusion matrix</a:t>
            </a:r>
            <a:endParaRPr lang="en-US" sz="3000" dirty="0"/>
          </a:p>
        </p:txBody>
      </p:sp>
      <p:pic>
        <p:nvPicPr>
          <p:cNvPr id="3" name="ROC curves" descr="ROC curves for all four models">    </p:cNvPr>
          <p:cNvPicPr>
            <a:picLocks noChangeAspect="1"/>
          </p:cNvPicPr>
          <p:nvPr/>
        </p:nvPicPr>
        <p:blipFill>
          <a:blip r:embed="rId1"/>
          <a:stretch>
            <a:fillRect/>
          </a:stretch>
        </p:blipFill>
        <p:spPr>
          <a:xfrm>
            <a:off x="748807" y="1097280"/>
            <a:ext cx="3623026" cy="3200400"/>
          </a:xfrm>
          <a:prstGeom prst="rect">
            <a:avLst/>
          </a:prstGeom>
        </p:spPr>
      </p:pic>
      <p:pic>
        <p:nvPicPr>
          <p:cNvPr id="4" name="Confusion matrix" descr="Confusion matrix for logistic regression on the test set">    </p:cNvPr>
          <p:cNvPicPr>
            <a:picLocks noChangeAspect="1"/>
          </p:cNvPicPr>
          <p:nvPr/>
        </p:nvPicPr>
        <p:blipFill>
          <a:blip r:embed="rId2"/>
          <a:stretch>
            <a:fillRect/>
          </a:stretch>
        </p:blipFill>
        <p:spPr>
          <a:xfrm>
            <a:off x="5288428" y="1097280"/>
            <a:ext cx="2956264" cy="2743200"/>
          </a:xfrm>
          <a:prstGeom prst="rect">
            <a:avLst/>
          </a:prstGeom>
        </p:spPr>
      </p:pic>
      <p:sp>
        <p:nvSpPr>
          <p:cNvPr id="5" name="Confusion caption"/>
          <p:cNvSpPr txBox="1"/>
          <p:nvPr/>
        </p:nvSpPr>
        <p:spPr>
          <a:xfrm>
            <a:off x="4846320" y="3840480"/>
            <a:ext cx="3840480" cy="640080"/>
          </a:xfrm>
          <a:prstGeom prst="rect">
            <a:avLst/>
          </a:prstGeom>
          <a:noFill/>
          <a:ln/>
        </p:spPr>
        <p:txBody>
          <a:bodyPr wrap="square" lIns="0" tIns="0" rIns="0" bIns="0" rtlCol="0" anchor="t"/>
          <a:lstStyle/>
          <a:p>
            <a:pPr indent="0" marL="0">
              <a:buNone/>
            </a:pPr>
            <a:r>
              <a:rPr lang="en-US" sz="1300" dirty="0">
                <a:solidFill>
                  <a:schemeClr val="tx1"/>
                </a:solidFill>
              </a:rPr>
              <a:t>Logistic regression on test: 221 churners caught, 59 missed, 193 false alarms.</a:t>
            </a:r>
            <a:endParaRPr lang="en-US" sz="1300" dirty="0"/>
          </a:p>
        </p:txBody>
      </p:sp>
      <p:sp>
        <p:nvSpPr>
          <p:cNvPr id="6" name="AUC caption"/>
          <p:cNvSpPr txBox="1"/>
          <p:nvPr/>
        </p:nvSpPr>
        <p:spPr>
          <a:xfrm>
            <a:off x="457200" y="4297680"/>
            <a:ext cx="4206240" cy="457200"/>
          </a:xfrm>
          <a:prstGeom prst="rect">
            <a:avLst/>
          </a:prstGeom>
          <a:noFill/>
          <a:ln/>
        </p:spPr>
        <p:txBody>
          <a:bodyPr wrap="square" lIns="0" tIns="0" rIns="0" bIns="0" rtlCol="0" anchor="ctr"/>
          <a:lstStyle/>
          <a:p>
            <a:pPr indent="0" marL="0">
              <a:buNone/>
            </a:pPr>
            <a:r>
              <a:rPr lang="en-US" sz="1200" i="1" dirty="0">
                <a:solidFill>
                  <a:schemeClr val="accent6"/>
                </a:solidFill>
              </a:rPr>
              <a:t>AUC = chance a random churner is scored above a random loyal customer.</a:t>
            </a:r>
            <a:endParaRPr lang="en-US" sz="12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Too simple underfits, too complex overfits</a:t>
            </a:r>
            <a:endParaRPr lang="en-US" sz="3000" dirty="0"/>
          </a:p>
        </p:txBody>
      </p:sp>
      <p:pic>
        <p:nvPicPr>
          <p:cNvPr id="3" name="Tree depth sweep" descr="Decision tree train versus validation AUC across depths">    </p:cNvPr>
          <p:cNvPicPr>
            <a:picLocks noChangeAspect="1"/>
          </p:cNvPicPr>
          <p:nvPr/>
        </p:nvPicPr>
        <p:blipFill>
          <a:blip r:embed="rId1"/>
          <a:stretch>
            <a:fillRect/>
          </a:stretch>
        </p:blipFill>
        <p:spPr>
          <a:xfrm>
            <a:off x="721808" y="1051560"/>
            <a:ext cx="3585585" cy="2697480"/>
          </a:xfrm>
          <a:prstGeom prst="rect">
            <a:avLst/>
          </a:prstGeom>
        </p:spPr>
      </p:pic>
      <p:pic>
        <p:nvPicPr>
          <p:cNvPr id="4" name="KNN k sweep" descr="KNN train versus validation AUC across k">    </p:cNvPr>
          <p:cNvPicPr>
            <a:picLocks noChangeAspect="1"/>
          </p:cNvPicPr>
          <p:nvPr/>
        </p:nvPicPr>
        <p:blipFill>
          <a:blip r:embed="rId2"/>
          <a:stretch>
            <a:fillRect/>
          </a:stretch>
        </p:blipFill>
        <p:spPr>
          <a:xfrm>
            <a:off x="4836608" y="1051560"/>
            <a:ext cx="3585585" cy="2697480"/>
          </a:xfrm>
          <a:prstGeom prst="rect">
            <a:avLst/>
          </a:prstGeom>
        </p:spPr>
      </p:pic>
      <p:sp>
        <p:nvSpPr>
          <p:cNvPr id="5" name="Fit card 1"/>
          <p:cNvSpPr/>
          <p:nvPr/>
        </p:nvSpPr>
        <p:spPr>
          <a:xfrm>
            <a:off x="457200" y="3840480"/>
            <a:ext cx="2651760" cy="868680"/>
          </a:xfrm>
          <a:prstGeom prst="roundRect">
            <a:avLst>
              <a:gd name="adj" fmla="val 8421"/>
            </a:avLst>
          </a:prstGeom>
          <a:solidFill>
            <a:schemeClr val="bg2"/>
          </a:solidFill>
          <a:ln w="12700">
            <a:solidFill>
              <a:schemeClr val="bg2"/>
            </a:solidFill>
            <a:prstDash val="solid"/>
          </a:ln>
        </p:spPr>
      </p:sp>
      <p:sp>
        <p:nvSpPr>
          <p:cNvPr id="6" name="Fit text 1"/>
          <p:cNvSpPr txBox="1"/>
          <p:nvPr/>
        </p:nvSpPr>
        <p:spPr>
          <a:xfrm>
            <a:off x="594360" y="3840480"/>
            <a:ext cx="2423160" cy="868680"/>
          </a:xfrm>
          <a:prstGeom prst="rect">
            <a:avLst/>
          </a:prstGeom>
          <a:noFill/>
          <a:ln/>
        </p:spPr>
        <p:txBody>
          <a:bodyPr wrap="square" lIns="0" tIns="0" rIns="0" bIns="0" rtlCol="0" anchor="ctr"/>
          <a:lstStyle/>
          <a:p>
            <a:pPr indent="0" marL="0">
              <a:buNone/>
            </a:pPr>
            <a:r>
              <a:rPr lang="en-US" sz="1400" b="1" dirty="0">
                <a:solidFill>
                  <a:schemeClr val="accent2"/>
                </a:solidFill>
              </a:rPr>
              <a:t>Overfit: depth 20</a:t>
            </a:r>
            <a:endParaRPr lang="en-US" sz="1400" dirty="0"/>
          </a:p>
          <a:p>
            <a:pPr indent="0" marL="0">
              <a:buNone/>
            </a:pPr>
            <a:r>
              <a:rPr lang="en-US" sz="1200" dirty="0">
                <a:solidFill>
                  <a:schemeClr val="tx1"/>
                </a:solidFill>
              </a:rPr>
              <a:t>train AUC 1.00, validation 0.67</a:t>
            </a:r>
            <a:endParaRPr lang="en-US" sz="1400" dirty="0"/>
          </a:p>
        </p:txBody>
      </p:sp>
      <p:sp>
        <p:nvSpPr>
          <p:cNvPr id="7" name="Fit card 2"/>
          <p:cNvSpPr/>
          <p:nvPr/>
        </p:nvSpPr>
        <p:spPr>
          <a:xfrm>
            <a:off x="3291840" y="3840480"/>
            <a:ext cx="2651760" cy="868680"/>
          </a:xfrm>
          <a:prstGeom prst="roundRect">
            <a:avLst>
              <a:gd name="adj" fmla="val 8421"/>
            </a:avLst>
          </a:prstGeom>
          <a:solidFill>
            <a:schemeClr val="bg2"/>
          </a:solidFill>
          <a:ln w="12700">
            <a:solidFill>
              <a:schemeClr val="bg2"/>
            </a:solidFill>
            <a:prstDash val="solid"/>
          </a:ln>
        </p:spPr>
      </p:sp>
      <p:sp>
        <p:nvSpPr>
          <p:cNvPr id="8" name="Fit text 2"/>
          <p:cNvSpPr txBox="1"/>
          <p:nvPr/>
        </p:nvSpPr>
        <p:spPr>
          <a:xfrm>
            <a:off x="3429000" y="3840480"/>
            <a:ext cx="2423160" cy="868680"/>
          </a:xfrm>
          <a:prstGeom prst="rect">
            <a:avLst/>
          </a:prstGeom>
          <a:noFill/>
          <a:ln/>
        </p:spPr>
        <p:txBody>
          <a:bodyPr wrap="square" lIns="0" tIns="0" rIns="0" bIns="0" rtlCol="0" anchor="ctr"/>
          <a:lstStyle/>
          <a:p>
            <a:pPr indent="0" marL="0">
              <a:buNone/>
            </a:pPr>
            <a:r>
              <a:rPr lang="en-US" sz="1400" b="1" dirty="0">
                <a:solidFill>
                  <a:schemeClr val="accent2"/>
                </a:solidFill>
              </a:rPr>
              <a:t>Overfit: KNN k = 1</a:t>
            </a:r>
            <a:endParaRPr lang="en-US" sz="1400" dirty="0"/>
          </a:p>
          <a:p>
            <a:pPr indent="0" marL="0">
              <a:buNone/>
            </a:pPr>
            <a:r>
              <a:rPr lang="en-US" sz="1200" dirty="0">
                <a:solidFill>
                  <a:schemeClr val="tx1"/>
                </a:solidFill>
              </a:rPr>
              <a:t>train 0.997, validation 0.656</a:t>
            </a:r>
            <a:endParaRPr lang="en-US" sz="1400" dirty="0"/>
          </a:p>
        </p:txBody>
      </p:sp>
      <p:sp>
        <p:nvSpPr>
          <p:cNvPr id="9" name="Fit card 3"/>
          <p:cNvSpPr/>
          <p:nvPr/>
        </p:nvSpPr>
        <p:spPr>
          <a:xfrm>
            <a:off x="6126480" y="3840480"/>
            <a:ext cx="2651760" cy="868680"/>
          </a:xfrm>
          <a:prstGeom prst="roundRect">
            <a:avLst>
              <a:gd name="adj" fmla="val 8421"/>
            </a:avLst>
          </a:prstGeom>
          <a:solidFill>
            <a:schemeClr val="bg2"/>
          </a:solidFill>
          <a:ln w="12700">
            <a:solidFill>
              <a:schemeClr val="bg2"/>
            </a:solidFill>
            <a:prstDash val="solid"/>
          </a:ln>
        </p:spPr>
      </p:sp>
      <p:sp>
        <p:nvSpPr>
          <p:cNvPr id="10" name="Fit text 3"/>
          <p:cNvSpPr txBox="1"/>
          <p:nvPr/>
        </p:nvSpPr>
        <p:spPr>
          <a:xfrm>
            <a:off x="6263640" y="3840480"/>
            <a:ext cx="2423160" cy="868680"/>
          </a:xfrm>
          <a:prstGeom prst="rect">
            <a:avLst/>
          </a:prstGeom>
          <a:noFill/>
          <a:ln/>
        </p:spPr>
        <p:txBody>
          <a:bodyPr wrap="square" lIns="0" tIns="0" rIns="0" bIns="0" rtlCol="0" anchor="ctr"/>
          <a:lstStyle/>
          <a:p>
            <a:pPr indent="0" marL="0">
              <a:buNone/>
            </a:pPr>
            <a:r>
              <a:rPr lang="en-US" sz="1400" b="1" dirty="0">
                <a:solidFill>
                  <a:schemeClr val="tx1"/>
                </a:solidFill>
              </a:rPr>
              <a:t>Good: depth 4, k = 31</a:t>
            </a:r>
            <a:endParaRPr lang="en-US" sz="1400" dirty="0"/>
          </a:p>
          <a:p>
            <a:pPr indent="0" marL="0">
              <a:buNone/>
            </a:pPr>
            <a:r>
              <a:rPr lang="en-US" sz="1200" dirty="0">
                <a:solidFill>
                  <a:schemeClr val="tx1"/>
                </a:solidFill>
              </a:rPr>
              <a:t>train and validation close, validation AUC peaks</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From probability to action: the threshold</a:t>
            </a:r>
            <a:endParaRPr lang="en-US" sz="3000" dirty="0"/>
          </a:p>
        </p:txBody>
      </p:sp>
      <p:pic>
        <p:nvPicPr>
          <p:cNvPr id="3" name="Threshold plot" descr="Precision, recall and F1 versus decision threshold">    </p:cNvPr>
          <p:cNvPicPr>
            <a:picLocks noChangeAspect="1"/>
          </p:cNvPicPr>
          <p:nvPr/>
        </p:nvPicPr>
        <p:blipFill>
          <a:blip r:embed="rId1"/>
          <a:stretch>
            <a:fillRect/>
          </a:stretch>
        </p:blipFill>
        <p:spPr>
          <a:xfrm>
            <a:off x="615692" y="1097280"/>
            <a:ext cx="3980696" cy="2926080"/>
          </a:xfrm>
          <a:prstGeom prst="rect">
            <a:avLst/>
          </a:prstGeom>
        </p:spPr>
      </p:pic>
      <p:sp>
        <p:nvSpPr>
          <p:cNvPr id="4" name="Threshold caption"/>
          <p:cNvSpPr txBox="1"/>
          <p:nvPr/>
        </p:nvSpPr>
        <p:spPr>
          <a:xfrm>
            <a:off x="457200" y="4069080"/>
            <a:ext cx="4297680" cy="548640"/>
          </a:xfrm>
          <a:prstGeom prst="rect">
            <a:avLst/>
          </a:prstGeom>
          <a:noFill/>
          <a:ln/>
        </p:spPr>
        <p:txBody>
          <a:bodyPr wrap="square" lIns="0" tIns="0" rIns="0" bIns="0" rtlCol="0" anchor="ctr"/>
          <a:lstStyle/>
          <a:p>
            <a:pPr indent="0" marL="0">
              <a:buNone/>
            </a:pPr>
            <a:r>
              <a:rPr lang="en-US" sz="1200" i="1" dirty="0">
                <a:solidFill>
                  <a:schemeClr val="accent6"/>
                </a:solidFill>
              </a:rPr>
              <a:t>Lower threshold: more recall, more false alarms. Higher: the reverse.</a:t>
            </a:r>
            <a:endParaRPr lang="en-US" sz="1200" dirty="0"/>
          </a:p>
        </p:txBody>
      </p:sp>
      <p:sp>
        <p:nvSpPr>
          <p:cNvPr id="5" name="Best F1 circle"/>
          <p:cNvSpPr/>
          <p:nvPr/>
        </p:nvSpPr>
        <p:spPr>
          <a:xfrm>
            <a:off x="5029200" y="1325880"/>
            <a:ext cx="640080" cy="640080"/>
          </a:xfrm>
          <a:prstGeom prst="ellipse">
            <a:avLst/>
          </a:prstGeom>
          <a:solidFill>
            <a:schemeClr val="accent1"/>
          </a:solidFill>
          <a:ln w="12700">
            <a:solidFill>
              <a:schemeClr val="accent1"/>
            </a:solidFill>
            <a:prstDash val="solid"/>
          </a:ln>
        </p:spPr>
      </p:sp>
      <p:pic>
        <p:nvPicPr>
          <p:cNvPr id="6" name="Best F1 icon" descr="Best F1">    </p:cNvPr>
          <p:cNvPicPr>
            <a:picLocks noChangeAspect="1"/>
          </p:cNvPicPr>
          <p:nvPr/>
        </p:nvPicPr>
        <p:blipFill>
          <a:blip r:embed="rId2"/>
          <a:stretch>
            <a:fillRect/>
          </a:stretch>
        </p:blipFill>
        <p:spPr>
          <a:xfrm>
            <a:off x="5202022" y="1498702"/>
            <a:ext cx="294437" cy="294437"/>
          </a:xfrm>
          <a:prstGeom prst="rect">
            <a:avLst/>
          </a:prstGeom>
        </p:spPr>
      </p:pic>
      <p:sp>
        <p:nvSpPr>
          <p:cNvPr id="7" name="Threshold rule 1"/>
          <p:cNvSpPr txBox="1"/>
          <p:nvPr/>
        </p:nvSpPr>
        <p:spPr>
          <a:xfrm>
            <a:off x="5852160" y="1188720"/>
            <a:ext cx="2834640" cy="914400"/>
          </a:xfrm>
          <a:prstGeom prst="rect">
            <a:avLst/>
          </a:prstGeom>
          <a:noFill/>
          <a:ln/>
        </p:spPr>
        <p:txBody>
          <a:bodyPr wrap="square" lIns="0" tIns="0" rIns="0" bIns="0" rtlCol="0" anchor="ctr"/>
          <a:lstStyle/>
          <a:p>
            <a:pPr indent="0" marL="0">
              <a:buNone/>
            </a:pPr>
            <a:r>
              <a:rPr lang="en-US" sz="1600" b="1" dirty="0">
                <a:solidFill>
                  <a:schemeClr val="tx1"/>
                </a:solidFill>
              </a:rPr>
              <a:t>Best F1</a:t>
            </a:r>
            <a:endParaRPr lang="en-US" sz="1600" dirty="0"/>
          </a:p>
          <a:p>
            <a:pPr indent="0" marL="0">
              <a:buNone/>
            </a:pPr>
            <a:r>
              <a:rPr lang="en-US" sz="1300" dirty="0">
                <a:solidFill>
                  <a:schemeClr val="tx1"/>
                </a:solidFill>
              </a:rPr>
              <a:t>Highest F1 on validation. Logistic regression: 0.28.</a:t>
            </a:r>
            <a:endParaRPr lang="en-US" sz="1600" dirty="0"/>
          </a:p>
        </p:txBody>
      </p:sp>
      <p:sp>
        <p:nvSpPr>
          <p:cNvPr id="8" name="Minimum recall circle"/>
          <p:cNvSpPr/>
          <p:nvPr/>
        </p:nvSpPr>
        <p:spPr>
          <a:xfrm>
            <a:off x="5029200" y="2468880"/>
            <a:ext cx="640080" cy="640080"/>
          </a:xfrm>
          <a:prstGeom prst="ellipse">
            <a:avLst/>
          </a:prstGeom>
          <a:solidFill>
            <a:schemeClr val="accent1"/>
          </a:solidFill>
          <a:ln w="12700">
            <a:solidFill>
              <a:schemeClr val="accent1"/>
            </a:solidFill>
            <a:prstDash val="solid"/>
          </a:ln>
        </p:spPr>
      </p:sp>
      <p:pic>
        <p:nvPicPr>
          <p:cNvPr id="9" name="Minimum recall icon" descr="Minimum recall">    </p:cNvPr>
          <p:cNvPicPr>
            <a:picLocks noChangeAspect="1"/>
          </p:cNvPicPr>
          <p:nvPr/>
        </p:nvPicPr>
        <p:blipFill>
          <a:blip r:embed="rId3"/>
          <a:stretch>
            <a:fillRect/>
          </a:stretch>
        </p:blipFill>
        <p:spPr>
          <a:xfrm>
            <a:off x="5202022" y="2641702"/>
            <a:ext cx="294437" cy="294437"/>
          </a:xfrm>
          <a:prstGeom prst="rect">
            <a:avLst/>
          </a:prstGeom>
        </p:spPr>
      </p:pic>
      <p:sp>
        <p:nvSpPr>
          <p:cNvPr id="10" name="Threshold rule 2"/>
          <p:cNvSpPr txBox="1"/>
          <p:nvPr/>
        </p:nvSpPr>
        <p:spPr>
          <a:xfrm>
            <a:off x="5852160" y="2331720"/>
            <a:ext cx="2834640" cy="914400"/>
          </a:xfrm>
          <a:prstGeom prst="rect">
            <a:avLst/>
          </a:prstGeom>
          <a:noFill/>
          <a:ln/>
        </p:spPr>
        <p:txBody>
          <a:bodyPr wrap="square" lIns="0" tIns="0" rIns="0" bIns="0" rtlCol="0" anchor="ctr"/>
          <a:lstStyle/>
          <a:p>
            <a:pPr indent="0" marL="0">
              <a:buNone/>
            </a:pPr>
            <a:r>
              <a:rPr lang="en-US" sz="1600" b="1" dirty="0">
                <a:solidFill>
                  <a:schemeClr val="tx1"/>
                </a:solidFill>
              </a:rPr>
              <a:t>Minimum recall</a:t>
            </a:r>
            <a:endParaRPr lang="en-US" sz="1600" dirty="0"/>
          </a:p>
          <a:p>
            <a:pPr indent="0" marL="0">
              <a:buNone/>
            </a:pPr>
            <a:r>
              <a:rPr lang="en-US" sz="1300" dirty="0">
                <a:solidFill>
                  <a:schemeClr val="tx1"/>
                </a:solidFill>
              </a:rPr>
              <a:t>Catch at least X% of churners. At 80%, the threshold is 0.23 (flag anyone at 23% risk or more).</a:t>
            </a:r>
            <a:endParaRPr lang="en-US" sz="1600" dirty="0"/>
          </a:p>
        </p:txBody>
      </p:sp>
      <p:sp>
        <p:nvSpPr>
          <p:cNvPr id="11" name="Manual circle"/>
          <p:cNvSpPr/>
          <p:nvPr/>
        </p:nvSpPr>
        <p:spPr>
          <a:xfrm>
            <a:off x="5029200" y="3611880"/>
            <a:ext cx="640080" cy="640080"/>
          </a:xfrm>
          <a:prstGeom prst="ellipse">
            <a:avLst/>
          </a:prstGeom>
          <a:solidFill>
            <a:schemeClr val="accent1"/>
          </a:solidFill>
          <a:ln w="12700">
            <a:solidFill>
              <a:schemeClr val="accent1"/>
            </a:solidFill>
            <a:prstDash val="solid"/>
          </a:ln>
        </p:spPr>
      </p:sp>
      <p:pic>
        <p:nvPicPr>
          <p:cNvPr id="12" name="Manual icon" descr="Manual">    </p:cNvPr>
          <p:cNvPicPr>
            <a:picLocks noChangeAspect="1"/>
          </p:cNvPicPr>
          <p:nvPr/>
        </p:nvPicPr>
        <p:blipFill>
          <a:blip r:embed="rId4"/>
          <a:stretch>
            <a:fillRect/>
          </a:stretch>
        </p:blipFill>
        <p:spPr>
          <a:xfrm>
            <a:off x="5202022" y="3784702"/>
            <a:ext cx="294437" cy="294437"/>
          </a:xfrm>
          <a:prstGeom prst="rect">
            <a:avLst/>
          </a:prstGeom>
        </p:spPr>
      </p:pic>
      <p:sp>
        <p:nvSpPr>
          <p:cNvPr id="13" name="Threshold rule 3"/>
          <p:cNvSpPr txBox="1"/>
          <p:nvPr/>
        </p:nvSpPr>
        <p:spPr>
          <a:xfrm>
            <a:off x="5852160" y="3474720"/>
            <a:ext cx="2834640" cy="914400"/>
          </a:xfrm>
          <a:prstGeom prst="rect">
            <a:avLst/>
          </a:prstGeom>
          <a:noFill/>
          <a:ln/>
        </p:spPr>
        <p:txBody>
          <a:bodyPr wrap="square" lIns="0" tIns="0" rIns="0" bIns="0" rtlCol="0" anchor="ctr"/>
          <a:lstStyle/>
          <a:p>
            <a:pPr indent="0" marL="0">
              <a:buNone/>
            </a:pPr>
            <a:r>
              <a:rPr lang="en-US" sz="1600" b="1" dirty="0">
                <a:solidFill>
                  <a:schemeClr val="tx1"/>
                </a:solidFill>
              </a:rPr>
              <a:t>Manual</a:t>
            </a:r>
            <a:endParaRPr lang="en-US" sz="1600" dirty="0"/>
          </a:p>
          <a:p>
            <a:pPr indent="0" marL="0">
              <a:buNone/>
            </a:pPr>
            <a:r>
              <a:rPr lang="en-US" sz="1300" dirty="0">
                <a:solidFill>
                  <a:schemeClr val="tx1"/>
                </a:solidFill>
              </a:rPr>
              <a:t>Drag the slider and watch precision, recall and F1 move.</a:t>
            </a:r>
            <a:endParaRPr lang="en-US" sz="16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Three customer segments with K-means</a:t>
            </a:r>
            <a:endParaRPr lang="en-US" sz="3000" dirty="0"/>
          </a:p>
        </p:txBody>
      </p:sp>
      <p:pic>
        <p:nvPicPr>
          <p:cNvPr id="3" name="PCA scatter" descr="Customers projected to two dimensions and coloured by cluster">    </p:cNvPr>
          <p:cNvPicPr>
            <a:picLocks noChangeAspect="1"/>
          </p:cNvPicPr>
          <p:nvPr/>
        </p:nvPicPr>
        <p:blipFill>
          <a:blip r:embed="rId1"/>
          <a:stretch>
            <a:fillRect/>
          </a:stretch>
        </p:blipFill>
        <p:spPr>
          <a:xfrm>
            <a:off x="482727" y="1097280"/>
            <a:ext cx="4246625" cy="3383280"/>
          </a:xfrm>
          <a:prstGeom prst="rect">
            <a:avLst/>
          </a:prstGeom>
        </p:spPr>
      </p:pic>
      <p:sp>
        <p:nvSpPr>
          <p:cNvPr id="4" name="Segment card 1"/>
          <p:cNvSpPr/>
          <p:nvPr/>
        </p:nvSpPr>
        <p:spPr>
          <a:xfrm>
            <a:off x="5029200" y="1188720"/>
            <a:ext cx="3657600" cy="1005840"/>
          </a:xfrm>
          <a:prstGeom prst="roundRect">
            <a:avLst>
              <a:gd name="adj" fmla="val 7273"/>
            </a:avLst>
          </a:prstGeom>
          <a:solidFill>
            <a:schemeClr val="bg2"/>
          </a:solidFill>
          <a:ln w="12700">
            <a:solidFill>
              <a:schemeClr val="bg2"/>
            </a:solidFill>
            <a:prstDash val="solid"/>
          </a:ln>
        </p:spPr>
      </p:sp>
      <p:sp>
        <p:nvSpPr>
          <p:cNvPr id="5" name="Segment marker 1"/>
          <p:cNvSpPr/>
          <p:nvPr/>
        </p:nvSpPr>
        <p:spPr>
          <a:xfrm>
            <a:off x="5166360" y="1490472"/>
            <a:ext cx="402336" cy="402336"/>
          </a:xfrm>
          <a:prstGeom prst="ellipse">
            <a:avLst/>
          </a:prstGeom>
          <a:solidFill>
            <a:schemeClr val="accent4"/>
          </a:solidFill>
          <a:ln w="12700">
            <a:solidFill>
              <a:schemeClr val="accent4"/>
            </a:solidFill>
            <a:prstDash val="solid"/>
          </a:ln>
        </p:spPr>
      </p:sp>
      <p:sp>
        <p:nvSpPr>
          <p:cNvPr id="6" name="Segment id 1"/>
          <p:cNvSpPr txBox="1"/>
          <p:nvPr/>
        </p:nvSpPr>
        <p:spPr>
          <a:xfrm>
            <a:off x="5166360" y="149047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C0</a:t>
            </a:r>
            <a:endParaRPr lang="en-US" sz="1200" dirty="0"/>
          </a:p>
        </p:txBody>
      </p:sp>
      <p:sp>
        <p:nvSpPr>
          <p:cNvPr id="7" name="Segment text 1"/>
          <p:cNvSpPr txBox="1"/>
          <p:nvPr/>
        </p:nvSpPr>
        <p:spPr>
          <a:xfrm>
            <a:off x="5715000" y="1188720"/>
            <a:ext cx="2880360" cy="1005840"/>
          </a:xfrm>
          <a:prstGeom prst="rect">
            <a:avLst/>
          </a:prstGeom>
          <a:noFill/>
          <a:ln/>
        </p:spPr>
        <p:txBody>
          <a:bodyPr wrap="square" lIns="0" tIns="0" rIns="0" bIns="0" rtlCol="0" anchor="ctr"/>
          <a:lstStyle/>
          <a:p>
            <a:pPr indent="0" marL="0">
              <a:buNone/>
            </a:pPr>
            <a:r>
              <a:rPr lang="en-US" sz="1400" b="1" dirty="0">
                <a:solidFill>
                  <a:schemeClr val="tx1"/>
                </a:solidFill>
              </a:rPr>
              <a:t>Low-bill customers</a:t>
            </a:r>
            <a:endParaRPr lang="en-US" sz="1400" dirty="0"/>
          </a:p>
          <a:p>
            <a:pPr indent="0" marL="0">
              <a:buNone/>
            </a:pPr>
            <a:r>
              <a:rPr lang="en-US" sz="1200" dirty="0">
                <a:solidFill>
                  <a:schemeClr val="tx1"/>
                </a:solidFill>
              </a:rPr>
              <a:t>1085 customers · 31 months · $21/mo</a:t>
            </a:r>
            <a:endParaRPr lang="en-US" sz="1400" dirty="0"/>
          </a:p>
          <a:p>
            <a:pPr indent="0" marL="0">
              <a:buNone/>
            </a:pPr>
            <a:r>
              <a:rPr lang="en-US" sz="1400" b="1" dirty="0">
                <a:solidFill>
                  <a:schemeClr val="tx1"/>
                </a:solidFill>
              </a:rPr>
              <a:t>Churn 7.1%</a:t>
            </a:r>
            <a:endParaRPr lang="en-US" sz="1400" dirty="0"/>
          </a:p>
        </p:txBody>
      </p:sp>
      <p:sp>
        <p:nvSpPr>
          <p:cNvPr id="8" name="Segment card 2"/>
          <p:cNvSpPr/>
          <p:nvPr/>
        </p:nvSpPr>
        <p:spPr>
          <a:xfrm>
            <a:off x="5029200" y="2331720"/>
            <a:ext cx="3657600" cy="1005840"/>
          </a:xfrm>
          <a:prstGeom prst="roundRect">
            <a:avLst>
              <a:gd name="adj" fmla="val 7273"/>
            </a:avLst>
          </a:prstGeom>
          <a:solidFill>
            <a:schemeClr val="bg2"/>
          </a:solidFill>
          <a:ln w="12700">
            <a:solidFill>
              <a:schemeClr val="bg2"/>
            </a:solidFill>
            <a:prstDash val="solid"/>
          </a:ln>
        </p:spPr>
      </p:sp>
      <p:sp>
        <p:nvSpPr>
          <p:cNvPr id="9" name="Segment marker 2"/>
          <p:cNvSpPr/>
          <p:nvPr/>
        </p:nvSpPr>
        <p:spPr>
          <a:xfrm>
            <a:off x="5166360" y="2633472"/>
            <a:ext cx="402336" cy="402336"/>
          </a:xfrm>
          <a:prstGeom prst="ellipse">
            <a:avLst/>
          </a:prstGeom>
          <a:solidFill>
            <a:schemeClr val="accent1"/>
          </a:solidFill>
          <a:ln w="12700">
            <a:solidFill>
              <a:schemeClr val="accent1"/>
            </a:solidFill>
            <a:prstDash val="solid"/>
          </a:ln>
        </p:spPr>
      </p:sp>
      <p:sp>
        <p:nvSpPr>
          <p:cNvPr id="10" name="Segment id 2"/>
          <p:cNvSpPr txBox="1"/>
          <p:nvPr/>
        </p:nvSpPr>
        <p:spPr>
          <a:xfrm>
            <a:off x="5166360" y="263347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C1</a:t>
            </a:r>
            <a:endParaRPr lang="en-US" sz="1200" dirty="0"/>
          </a:p>
        </p:txBody>
      </p:sp>
      <p:sp>
        <p:nvSpPr>
          <p:cNvPr id="11" name="Segment text 2"/>
          <p:cNvSpPr txBox="1"/>
          <p:nvPr/>
        </p:nvSpPr>
        <p:spPr>
          <a:xfrm>
            <a:off x="5715000" y="2331720"/>
            <a:ext cx="2880360" cy="1005840"/>
          </a:xfrm>
          <a:prstGeom prst="rect">
            <a:avLst/>
          </a:prstGeom>
          <a:noFill/>
          <a:ln/>
        </p:spPr>
        <p:txBody>
          <a:bodyPr wrap="square" lIns="0" tIns="0" rIns="0" bIns="0" rtlCol="0" anchor="ctr"/>
          <a:lstStyle/>
          <a:p>
            <a:pPr indent="0" marL="0">
              <a:buNone/>
            </a:pPr>
            <a:r>
              <a:rPr lang="en-US" sz="1400" b="1" dirty="0">
                <a:solidFill>
                  <a:schemeClr val="tx1"/>
                </a:solidFill>
              </a:rPr>
              <a:t>Loyal, high spenders</a:t>
            </a:r>
            <a:endParaRPr lang="en-US" sz="1400" dirty="0"/>
          </a:p>
          <a:p>
            <a:pPr indent="0" marL="0">
              <a:buNone/>
            </a:pPr>
            <a:r>
              <a:rPr lang="en-US" sz="1200" dirty="0">
                <a:solidFill>
                  <a:schemeClr val="tx1"/>
                </a:solidFill>
              </a:rPr>
              <a:t>1712 customers · 54 months · $89/mo</a:t>
            </a:r>
            <a:endParaRPr lang="en-US" sz="1400" dirty="0"/>
          </a:p>
          <a:p>
            <a:pPr indent="0" marL="0">
              <a:buNone/>
            </a:pPr>
            <a:r>
              <a:rPr lang="en-US" sz="1400" b="1" dirty="0">
                <a:solidFill>
                  <a:schemeClr val="accent1"/>
                </a:solidFill>
              </a:rPr>
              <a:t>Churn 17.1%</a:t>
            </a:r>
            <a:endParaRPr lang="en-US" sz="1400" dirty="0"/>
          </a:p>
        </p:txBody>
      </p:sp>
      <p:sp>
        <p:nvSpPr>
          <p:cNvPr id="12" name="Segment card 3"/>
          <p:cNvSpPr/>
          <p:nvPr/>
        </p:nvSpPr>
        <p:spPr>
          <a:xfrm>
            <a:off x="5029200" y="3474720"/>
            <a:ext cx="3657600" cy="1005840"/>
          </a:xfrm>
          <a:prstGeom prst="roundRect">
            <a:avLst>
              <a:gd name="adj" fmla="val 7273"/>
            </a:avLst>
          </a:prstGeom>
          <a:solidFill>
            <a:schemeClr val="bg2"/>
          </a:solidFill>
          <a:ln w="12700">
            <a:solidFill>
              <a:schemeClr val="bg2"/>
            </a:solidFill>
            <a:prstDash val="solid"/>
          </a:ln>
        </p:spPr>
      </p:sp>
      <p:sp>
        <p:nvSpPr>
          <p:cNvPr id="13" name="Segment marker 3"/>
          <p:cNvSpPr/>
          <p:nvPr/>
        </p:nvSpPr>
        <p:spPr>
          <a:xfrm>
            <a:off x="5166360" y="3776472"/>
            <a:ext cx="402336" cy="402336"/>
          </a:xfrm>
          <a:prstGeom prst="ellipse">
            <a:avLst/>
          </a:prstGeom>
          <a:solidFill>
            <a:schemeClr val="accent2"/>
          </a:solidFill>
          <a:ln w="12700">
            <a:solidFill>
              <a:schemeClr val="accent2"/>
            </a:solidFill>
            <a:prstDash val="solid"/>
          </a:ln>
        </p:spPr>
      </p:sp>
      <p:sp>
        <p:nvSpPr>
          <p:cNvPr id="14" name="Segment id 3"/>
          <p:cNvSpPr txBox="1"/>
          <p:nvPr/>
        </p:nvSpPr>
        <p:spPr>
          <a:xfrm>
            <a:off x="5166360" y="3776472"/>
            <a:ext cx="402336" cy="402336"/>
          </a:xfrm>
          <a:prstGeom prst="rect">
            <a:avLst/>
          </a:prstGeom>
          <a:noFill/>
          <a:ln/>
        </p:spPr>
        <p:txBody>
          <a:bodyPr wrap="square" lIns="0" tIns="0" rIns="0" bIns="0" rtlCol="0" anchor="ctr"/>
          <a:lstStyle/>
          <a:p>
            <a:pPr algn="ctr" indent="0" marL="0">
              <a:buNone/>
            </a:pPr>
            <a:r>
              <a:rPr lang="en-US" sz="1200" b="1" dirty="0">
                <a:solidFill>
                  <a:schemeClr val="bg1"/>
                </a:solidFill>
              </a:rPr>
              <a:t>C2</a:t>
            </a:r>
            <a:endParaRPr lang="en-US" sz="1200" dirty="0"/>
          </a:p>
        </p:txBody>
      </p:sp>
      <p:sp>
        <p:nvSpPr>
          <p:cNvPr id="15" name="Segment text 3"/>
          <p:cNvSpPr txBox="1"/>
          <p:nvPr/>
        </p:nvSpPr>
        <p:spPr>
          <a:xfrm>
            <a:off x="5715000" y="3474720"/>
            <a:ext cx="2880360" cy="1005840"/>
          </a:xfrm>
          <a:prstGeom prst="rect">
            <a:avLst/>
          </a:prstGeom>
          <a:noFill/>
          <a:ln/>
        </p:spPr>
        <p:txBody>
          <a:bodyPr wrap="square" lIns="0" tIns="0" rIns="0" bIns="0" rtlCol="0" anchor="ctr"/>
          <a:lstStyle/>
          <a:p>
            <a:pPr indent="0" marL="0">
              <a:buNone/>
            </a:pPr>
            <a:r>
              <a:rPr lang="en-US" sz="1400" b="1" dirty="0">
                <a:solidFill>
                  <a:schemeClr val="tx1"/>
                </a:solidFill>
              </a:rPr>
              <a:t>Newer, mid-bill</a:t>
            </a:r>
            <a:endParaRPr lang="en-US" sz="1400" dirty="0"/>
          </a:p>
          <a:p>
            <a:pPr indent="0" marL="0">
              <a:buNone/>
            </a:pPr>
            <a:r>
              <a:rPr lang="en-US" sz="1200" dirty="0">
                <a:solidFill>
                  <a:schemeClr val="tx1"/>
                </a:solidFill>
              </a:rPr>
              <a:t>2133 customers · 16 months · $67/mo</a:t>
            </a:r>
            <a:endParaRPr lang="en-US" sz="1400" dirty="0"/>
          </a:p>
          <a:p>
            <a:pPr indent="0" marL="0">
              <a:buNone/>
            </a:pPr>
            <a:r>
              <a:rPr lang="en-US" sz="1400" b="1" dirty="0">
                <a:solidFill>
                  <a:schemeClr val="accent2"/>
                </a:solidFill>
              </a:rPr>
              <a:t>Churn 44.0%</a:t>
            </a:r>
            <a:endParaRPr lang="en-US" sz="14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1"/>
                </a:solidFill>
              </a:rPr>
              <a:t>The Streamlit app: tune, constrain, predict</a:t>
            </a:r>
            <a:endParaRPr lang="en-US" sz="3000" dirty="0"/>
          </a:p>
        </p:txBody>
      </p:sp>
      <p:sp>
        <p:nvSpPr>
          <p:cNvPr id="3" name="Data and EDA circle"/>
          <p:cNvSpPr/>
          <p:nvPr/>
        </p:nvSpPr>
        <p:spPr>
          <a:xfrm>
            <a:off x="457200" y="1097280"/>
            <a:ext cx="548640" cy="548640"/>
          </a:xfrm>
          <a:prstGeom prst="ellipse">
            <a:avLst/>
          </a:prstGeom>
          <a:solidFill>
            <a:schemeClr val="accent1"/>
          </a:solidFill>
          <a:ln w="12700">
            <a:solidFill>
              <a:schemeClr val="accent1"/>
            </a:solidFill>
            <a:prstDash val="solid"/>
          </a:ln>
        </p:spPr>
      </p:sp>
      <p:pic>
        <p:nvPicPr>
          <p:cNvPr id="4" name="Data and EDA icon" descr="Data and EDA">    </p:cNvPr>
          <p:cNvPicPr>
            <a:picLocks noChangeAspect="1"/>
          </p:cNvPicPr>
          <p:nvPr/>
        </p:nvPicPr>
        <p:blipFill>
          <a:blip r:embed="rId1"/>
          <a:stretch>
            <a:fillRect/>
          </a:stretch>
        </p:blipFill>
        <p:spPr>
          <a:xfrm>
            <a:off x="605333" y="1245413"/>
            <a:ext cx="252374" cy="252374"/>
          </a:xfrm>
          <a:prstGeom prst="rect">
            <a:avLst/>
          </a:prstGeom>
        </p:spPr>
      </p:pic>
      <p:sp>
        <p:nvSpPr>
          <p:cNvPr id="5" name="Tab 1"/>
          <p:cNvSpPr txBox="1"/>
          <p:nvPr/>
        </p:nvSpPr>
        <p:spPr>
          <a:xfrm>
            <a:off x="1143000" y="1097280"/>
            <a:ext cx="4023360" cy="548640"/>
          </a:xfrm>
          <a:prstGeom prst="rect">
            <a:avLst/>
          </a:prstGeom>
          <a:noFill/>
          <a:ln/>
        </p:spPr>
        <p:txBody>
          <a:bodyPr wrap="square" lIns="0" tIns="0" rIns="0" bIns="0" rtlCol="0" anchor="ctr"/>
          <a:lstStyle/>
          <a:p>
            <a:pPr indent="0" marL="0">
              <a:buNone/>
            </a:pPr>
            <a:r>
              <a:rPr lang="en-US" sz="1500" b="1" dirty="0">
                <a:solidFill>
                  <a:schemeClr val="tx1"/>
                </a:solidFill>
              </a:rPr>
              <a:t>Data and EDA  </a:t>
            </a:r>
            <a:pPr indent="0" marL="0">
              <a:buNone/>
            </a:pPr>
            <a:r>
              <a:rPr lang="en-US" sz="1300" dirty="0">
                <a:solidFill>
                  <a:schemeClr val="accent6"/>
                </a:solidFill>
              </a:rPr>
              <a:t>9 exploratory plots</a:t>
            </a:r>
            <a:endParaRPr lang="en-US" sz="1500" dirty="0"/>
          </a:p>
        </p:txBody>
      </p:sp>
      <p:sp>
        <p:nvSpPr>
          <p:cNvPr id="6" name="Feature engineering circle"/>
          <p:cNvSpPr/>
          <p:nvPr/>
        </p:nvSpPr>
        <p:spPr>
          <a:xfrm>
            <a:off x="457200" y="1810512"/>
            <a:ext cx="548640" cy="548640"/>
          </a:xfrm>
          <a:prstGeom prst="ellipse">
            <a:avLst/>
          </a:prstGeom>
          <a:solidFill>
            <a:schemeClr val="accent1"/>
          </a:solidFill>
          <a:ln w="12700">
            <a:solidFill>
              <a:schemeClr val="accent1"/>
            </a:solidFill>
            <a:prstDash val="solid"/>
          </a:ln>
        </p:spPr>
      </p:sp>
      <p:pic>
        <p:nvPicPr>
          <p:cNvPr id="7" name="Feature engineering icon" descr="Feature engineering">    </p:cNvPr>
          <p:cNvPicPr>
            <a:picLocks noChangeAspect="1"/>
          </p:cNvPicPr>
          <p:nvPr/>
        </p:nvPicPr>
        <p:blipFill>
          <a:blip r:embed="rId2"/>
          <a:stretch>
            <a:fillRect/>
          </a:stretch>
        </p:blipFill>
        <p:spPr>
          <a:xfrm>
            <a:off x="605333" y="1958645"/>
            <a:ext cx="252374" cy="252374"/>
          </a:xfrm>
          <a:prstGeom prst="rect">
            <a:avLst/>
          </a:prstGeom>
        </p:spPr>
      </p:pic>
      <p:sp>
        <p:nvSpPr>
          <p:cNvPr id="8" name="Tab 2"/>
          <p:cNvSpPr txBox="1"/>
          <p:nvPr/>
        </p:nvSpPr>
        <p:spPr>
          <a:xfrm>
            <a:off x="1143000" y="1810512"/>
            <a:ext cx="4023360" cy="548640"/>
          </a:xfrm>
          <a:prstGeom prst="rect">
            <a:avLst/>
          </a:prstGeom>
          <a:noFill/>
          <a:ln/>
        </p:spPr>
        <p:txBody>
          <a:bodyPr wrap="square" lIns="0" tIns="0" rIns="0" bIns="0" rtlCol="0" anchor="ctr"/>
          <a:lstStyle/>
          <a:p>
            <a:pPr indent="0" marL="0">
              <a:buNone/>
            </a:pPr>
            <a:r>
              <a:rPr lang="en-US" sz="1500" b="1" dirty="0">
                <a:solidFill>
                  <a:schemeClr val="tx1"/>
                </a:solidFill>
              </a:rPr>
              <a:t>Feature engineering  </a:t>
            </a:r>
            <a:pPr indent="0" marL="0">
              <a:buNone/>
            </a:pPr>
            <a:r>
              <a:rPr lang="en-US" sz="1300" dirty="0">
                <a:solidFill>
                  <a:schemeClr val="accent6"/>
                </a:solidFill>
              </a:rPr>
              <a:t>split, encoding, new features</a:t>
            </a:r>
            <a:endParaRPr lang="en-US" sz="1500" dirty="0"/>
          </a:p>
        </p:txBody>
      </p:sp>
      <p:sp>
        <p:nvSpPr>
          <p:cNvPr id="9" name="Model and results circle"/>
          <p:cNvSpPr/>
          <p:nvPr/>
        </p:nvSpPr>
        <p:spPr>
          <a:xfrm>
            <a:off x="457200" y="2523744"/>
            <a:ext cx="548640" cy="548640"/>
          </a:xfrm>
          <a:prstGeom prst="ellipse">
            <a:avLst/>
          </a:prstGeom>
          <a:solidFill>
            <a:schemeClr val="accent1"/>
          </a:solidFill>
          <a:ln w="12700">
            <a:solidFill>
              <a:schemeClr val="accent1"/>
            </a:solidFill>
            <a:prstDash val="solid"/>
          </a:ln>
        </p:spPr>
      </p:sp>
      <p:pic>
        <p:nvPicPr>
          <p:cNvPr id="10" name="Model and results icon" descr="Model and results">    </p:cNvPr>
          <p:cNvPicPr>
            <a:picLocks noChangeAspect="1"/>
          </p:cNvPicPr>
          <p:nvPr/>
        </p:nvPicPr>
        <p:blipFill>
          <a:blip r:embed="rId3"/>
          <a:stretch>
            <a:fillRect/>
          </a:stretch>
        </p:blipFill>
        <p:spPr>
          <a:xfrm>
            <a:off x="605333" y="2671877"/>
            <a:ext cx="252374" cy="252374"/>
          </a:xfrm>
          <a:prstGeom prst="rect">
            <a:avLst/>
          </a:prstGeom>
        </p:spPr>
      </p:pic>
      <p:sp>
        <p:nvSpPr>
          <p:cNvPr id="11" name="Tab 3"/>
          <p:cNvSpPr txBox="1"/>
          <p:nvPr/>
        </p:nvSpPr>
        <p:spPr>
          <a:xfrm>
            <a:off x="1143000" y="2523744"/>
            <a:ext cx="4023360" cy="548640"/>
          </a:xfrm>
          <a:prstGeom prst="rect">
            <a:avLst/>
          </a:prstGeom>
          <a:noFill/>
          <a:ln/>
        </p:spPr>
        <p:txBody>
          <a:bodyPr wrap="square" lIns="0" tIns="0" rIns="0" bIns="0" rtlCol="0" anchor="ctr"/>
          <a:lstStyle/>
          <a:p>
            <a:pPr indent="0" marL="0">
              <a:buNone/>
            </a:pPr>
            <a:r>
              <a:rPr lang="en-US" sz="1500" b="1" dirty="0">
                <a:solidFill>
                  <a:schemeClr val="tx1"/>
                </a:solidFill>
              </a:rPr>
              <a:t>Model and results  </a:t>
            </a:r>
            <a:pPr indent="0" marL="0">
              <a:buNone/>
            </a:pPr>
            <a:r>
              <a:rPr lang="en-US" sz="1300" dirty="0">
                <a:solidFill>
                  <a:schemeClr val="accent6"/>
                </a:solidFill>
              </a:rPr>
              <a:t>metrics, ROC, sweeps, comparison</a:t>
            </a:r>
            <a:endParaRPr lang="en-US" sz="1500" dirty="0"/>
          </a:p>
        </p:txBody>
      </p:sp>
      <p:sp>
        <p:nvSpPr>
          <p:cNvPr id="12" name="Predict a customer circle"/>
          <p:cNvSpPr/>
          <p:nvPr/>
        </p:nvSpPr>
        <p:spPr>
          <a:xfrm>
            <a:off x="457200" y="3236976"/>
            <a:ext cx="548640" cy="548640"/>
          </a:xfrm>
          <a:prstGeom prst="ellipse">
            <a:avLst/>
          </a:prstGeom>
          <a:solidFill>
            <a:schemeClr val="accent1"/>
          </a:solidFill>
          <a:ln w="12700">
            <a:solidFill>
              <a:schemeClr val="accent1"/>
            </a:solidFill>
            <a:prstDash val="solid"/>
          </a:ln>
        </p:spPr>
      </p:sp>
      <p:pic>
        <p:nvPicPr>
          <p:cNvPr id="13" name="Predict a customer icon" descr="Predict a customer">    </p:cNvPr>
          <p:cNvPicPr>
            <a:picLocks noChangeAspect="1"/>
          </p:cNvPicPr>
          <p:nvPr/>
        </p:nvPicPr>
        <p:blipFill>
          <a:blip r:embed="rId4"/>
          <a:stretch>
            <a:fillRect/>
          </a:stretch>
        </p:blipFill>
        <p:spPr>
          <a:xfrm>
            <a:off x="605333" y="3385109"/>
            <a:ext cx="252374" cy="252374"/>
          </a:xfrm>
          <a:prstGeom prst="rect">
            <a:avLst/>
          </a:prstGeom>
        </p:spPr>
      </p:pic>
      <p:sp>
        <p:nvSpPr>
          <p:cNvPr id="14" name="Tab 4"/>
          <p:cNvSpPr txBox="1"/>
          <p:nvPr/>
        </p:nvSpPr>
        <p:spPr>
          <a:xfrm>
            <a:off x="1143000" y="3236976"/>
            <a:ext cx="4023360" cy="548640"/>
          </a:xfrm>
          <a:prstGeom prst="rect">
            <a:avLst/>
          </a:prstGeom>
          <a:noFill/>
          <a:ln/>
        </p:spPr>
        <p:txBody>
          <a:bodyPr wrap="square" lIns="0" tIns="0" rIns="0" bIns="0" rtlCol="0" anchor="ctr"/>
          <a:lstStyle/>
          <a:p>
            <a:pPr indent="0" marL="0">
              <a:buNone/>
            </a:pPr>
            <a:r>
              <a:rPr lang="en-US" sz="1500" b="1" dirty="0">
                <a:solidFill>
                  <a:schemeClr val="tx1"/>
                </a:solidFill>
              </a:rPr>
              <a:t>Predict a customer  </a:t>
            </a:r>
            <a:pPr indent="0" marL="0">
              <a:buNone/>
            </a:pPr>
            <a:r>
              <a:rPr lang="en-US" sz="1300" dirty="0">
                <a:solidFill>
                  <a:schemeClr val="accent6"/>
                </a:solidFill>
              </a:rPr>
              <a:t>probability, risk band, drivers</a:t>
            </a:r>
            <a:endParaRPr lang="en-US" sz="1500" dirty="0"/>
          </a:p>
        </p:txBody>
      </p:sp>
      <p:sp>
        <p:nvSpPr>
          <p:cNvPr id="15" name="Segments circle"/>
          <p:cNvSpPr/>
          <p:nvPr/>
        </p:nvSpPr>
        <p:spPr>
          <a:xfrm>
            <a:off x="457200" y="3950208"/>
            <a:ext cx="548640" cy="548640"/>
          </a:xfrm>
          <a:prstGeom prst="ellipse">
            <a:avLst/>
          </a:prstGeom>
          <a:solidFill>
            <a:schemeClr val="accent1"/>
          </a:solidFill>
          <a:ln w="12700">
            <a:solidFill>
              <a:schemeClr val="accent1"/>
            </a:solidFill>
            <a:prstDash val="solid"/>
          </a:ln>
        </p:spPr>
      </p:sp>
      <p:pic>
        <p:nvPicPr>
          <p:cNvPr id="16" name="Segments icon" descr="Segments">    </p:cNvPr>
          <p:cNvPicPr>
            <a:picLocks noChangeAspect="1"/>
          </p:cNvPicPr>
          <p:nvPr/>
        </p:nvPicPr>
        <p:blipFill>
          <a:blip r:embed="rId5"/>
          <a:stretch>
            <a:fillRect/>
          </a:stretch>
        </p:blipFill>
        <p:spPr>
          <a:xfrm>
            <a:off x="605333" y="4098341"/>
            <a:ext cx="252374" cy="252374"/>
          </a:xfrm>
          <a:prstGeom prst="rect">
            <a:avLst/>
          </a:prstGeom>
        </p:spPr>
      </p:pic>
      <p:sp>
        <p:nvSpPr>
          <p:cNvPr id="17" name="Tab 5"/>
          <p:cNvSpPr txBox="1"/>
          <p:nvPr/>
        </p:nvSpPr>
        <p:spPr>
          <a:xfrm>
            <a:off x="1143000" y="3950208"/>
            <a:ext cx="4023360" cy="548640"/>
          </a:xfrm>
          <a:prstGeom prst="rect">
            <a:avLst/>
          </a:prstGeom>
          <a:noFill/>
          <a:ln/>
        </p:spPr>
        <p:txBody>
          <a:bodyPr wrap="square" lIns="0" tIns="0" rIns="0" bIns="0" rtlCol="0" anchor="ctr"/>
          <a:lstStyle/>
          <a:p>
            <a:pPr indent="0" marL="0">
              <a:buNone/>
            </a:pPr>
            <a:r>
              <a:rPr lang="en-US" sz="1500" b="1" dirty="0">
                <a:solidFill>
                  <a:schemeClr val="tx1"/>
                </a:solidFill>
              </a:rPr>
              <a:t>Segments  </a:t>
            </a:r>
            <a:pPr indent="0" marL="0">
              <a:buNone/>
            </a:pPr>
            <a:r>
              <a:rPr lang="en-US" sz="1300" dirty="0">
                <a:solidFill>
                  <a:schemeClr val="accent6"/>
                </a:solidFill>
              </a:rPr>
              <a:t>K-means, PCA, elbow</a:t>
            </a:r>
            <a:endParaRPr lang="en-US" sz="1500" dirty="0"/>
          </a:p>
        </p:txBody>
      </p:sp>
      <p:sp>
        <p:nvSpPr>
          <p:cNvPr id="18" name="Sidebar card"/>
          <p:cNvSpPr/>
          <p:nvPr/>
        </p:nvSpPr>
        <p:spPr>
          <a:xfrm>
            <a:off x="5486400" y="1097280"/>
            <a:ext cx="3200400" cy="3520440"/>
          </a:xfrm>
          <a:prstGeom prst="roundRect">
            <a:avLst>
              <a:gd name="adj" fmla="val 2286"/>
            </a:avLst>
          </a:prstGeom>
          <a:solidFill>
            <a:schemeClr val="tx1"/>
          </a:solidFill>
          <a:ln w="12700">
            <a:solidFill>
              <a:schemeClr val="tx1"/>
            </a:solidFill>
            <a:prstDash val="solid"/>
          </a:ln>
        </p:spPr>
      </p:sp>
      <p:sp>
        <p:nvSpPr>
          <p:cNvPr id="19" name="Sidebar title"/>
          <p:cNvSpPr txBox="1"/>
          <p:nvPr/>
        </p:nvSpPr>
        <p:spPr>
          <a:xfrm>
            <a:off x="5715000" y="1234440"/>
            <a:ext cx="2743200" cy="365760"/>
          </a:xfrm>
          <a:prstGeom prst="rect">
            <a:avLst/>
          </a:prstGeom>
          <a:noFill/>
          <a:ln/>
        </p:spPr>
        <p:txBody>
          <a:bodyPr wrap="square" lIns="0" tIns="0" rIns="0" bIns="0" rtlCol="0" anchor="ctr"/>
          <a:lstStyle/>
          <a:p>
            <a:pPr indent="0" marL="0">
              <a:buNone/>
            </a:pPr>
            <a:r>
              <a:rPr lang="en-US" sz="1600" b="1" dirty="0">
                <a:solidFill>
                  <a:schemeClr val="accent3"/>
                </a:solidFill>
              </a:rPr>
              <a:t>Sidebar controls</a:t>
            </a:r>
            <a:endParaRPr lang="en-US" sz="1600" dirty="0"/>
          </a:p>
        </p:txBody>
      </p:sp>
      <p:sp>
        <p:nvSpPr>
          <p:cNvPr id="20" name="Sidebar list"/>
          <p:cNvSpPr txBox="1"/>
          <p:nvPr/>
        </p:nvSpPr>
        <p:spPr>
          <a:xfrm>
            <a:off x="5715000" y="1691640"/>
            <a:ext cx="278892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bg1"/>
                </a:solidFill>
              </a:rPr>
              <a:t>Model and its parameters</a:t>
            </a:r>
            <a:endParaRPr lang="en-US" sz="1300" dirty="0"/>
          </a:p>
          <a:p>
            <a:pPr marL="342900" indent="-342900">
              <a:spcAft>
                <a:spcPts val="600"/>
              </a:spcAft>
              <a:buSzPct val="100000"/>
              <a:buChar char="•"/>
            </a:pPr>
            <a:r>
              <a:rPr lang="en-US" sz="1300" dirty="0">
                <a:solidFill>
                  <a:schemeClr val="bg1"/>
                </a:solidFill>
              </a:rPr>
              <a:t>Engineered features on or off</a:t>
            </a:r>
            <a:endParaRPr lang="en-US" sz="1300" dirty="0"/>
          </a:p>
          <a:p>
            <a:pPr marL="342900" indent="-342900">
              <a:spcAft>
                <a:spcPts val="600"/>
              </a:spcAft>
              <a:buSzPct val="100000"/>
              <a:buChar char="•"/>
            </a:pPr>
            <a:r>
              <a:rPr lang="en-US" sz="1300" dirty="0">
                <a:solidFill>
                  <a:schemeClr val="bg1"/>
                </a:solidFill>
              </a:rPr>
              <a:t>Random seed</a:t>
            </a:r>
            <a:endParaRPr lang="en-US" sz="1300" dirty="0"/>
          </a:p>
          <a:p>
            <a:pPr marL="342900" indent="-342900">
              <a:spcAft>
                <a:spcPts val="600"/>
              </a:spcAft>
              <a:buSzPct val="100000"/>
              <a:buChar char="•"/>
            </a:pPr>
            <a:r>
              <a:rPr lang="en-US" sz="1300" dirty="0">
                <a:solidFill>
                  <a:schemeClr val="bg1"/>
                </a:solidFill>
              </a:rPr>
              <a:t>Threshold rule: best F1, minimum recall, manual</a:t>
            </a:r>
            <a:endParaRPr lang="en-US" sz="1300" dirty="0"/>
          </a:p>
          <a:p>
            <a:pPr marL="342900" indent="-342900">
              <a:spcAft>
                <a:spcPts val="600"/>
              </a:spcAft>
              <a:buSzPct val="100000"/>
              <a:buChar char="•"/>
            </a:pPr>
            <a:r>
              <a:rPr lang="en-US" sz="1300" dirty="0">
                <a:solidFill>
                  <a:schemeClr val="bg1"/>
                </a:solidFill>
              </a:rPr>
              <a:t>Inputs limited to the training range; impossible service combinations blocked</a:t>
            </a:r>
            <a:endParaRPr lang="en-US" sz="1300" dirty="0"/>
          </a:p>
        </p:txBody>
      </p:sp>
      <p:sp>
        <p:nvSpPr>
          <p:cNvPr id="25" name="Slide Number Placeholder 0"/>
          <p:cNvSpPr>
            <a:spLocks noGrp="1"/>
          </p:cNvSpPr>
          <p:nvPr>
            <p:ph type="sldNum" sz="quarter" idx="4294967295"/>
          </p:nvPr>
        </p:nvSpPr>
        <p:spPr>
          <a:xfrm>
            <a:off x="832104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Takeaways and next steps</a:t>
            </a:r>
            <a:endParaRPr lang="en-US" sz="3000" dirty="0"/>
          </a:p>
        </p:txBody>
      </p:sp>
      <p:sp>
        <p:nvSpPr>
          <p:cNvPr id="3" name="Takeaway card 1"/>
          <p:cNvSpPr/>
          <p:nvPr/>
        </p:nvSpPr>
        <p:spPr>
          <a:xfrm>
            <a:off x="457200" y="1188720"/>
            <a:ext cx="2651760" cy="2286000"/>
          </a:xfrm>
          <a:prstGeom prst="roundRect">
            <a:avLst>
              <a:gd name="adj" fmla="val 3200"/>
            </a:avLst>
          </a:prstGeom>
          <a:solidFill>
            <a:schemeClr val="accent1"/>
          </a:solidFill>
          <a:ln w="12700">
            <a:solidFill>
              <a:schemeClr val="accent1"/>
            </a:solidFill>
            <a:prstDash val="solid"/>
          </a:ln>
        </p:spPr>
      </p:sp>
      <p:sp>
        <p:nvSpPr>
          <p:cNvPr id="4" name="Takeaway title 1"/>
          <p:cNvSpPr txBox="1"/>
          <p:nvPr/>
        </p:nvSpPr>
        <p:spPr>
          <a:xfrm>
            <a:off x="640080" y="1325880"/>
            <a:ext cx="2286000" cy="731520"/>
          </a:xfrm>
          <a:prstGeom prst="rect">
            <a:avLst/>
          </a:prstGeom>
          <a:noFill/>
          <a:ln/>
        </p:spPr>
        <p:txBody>
          <a:bodyPr wrap="square" lIns="0" tIns="0" rIns="0" bIns="0" rtlCol="0" anchor="ctr"/>
          <a:lstStyle/>
          <a:p>
            <a:pPr indent="0" marL="0">
              <a:buNone/>
            </a:pPr>
            <a:r>
              <a:rPr lang="en-US" sz="2600" b="1" dirty="0">
                <a:solidFill>
                  <a:schemeClr val="bg1"/>
                </a:solidFill>
              </a:rPr>
              <a:t>AUC 0.85</a:t>
            </a:r>
            <a:endParaRPr lang="en-US" sz="2600" dirty="0"/>
          </a:p>
        </p:txBody>
      </p:sp>
      <p:sp>
        <p:nvSpPr>
          <p:cNvPr id="5" name="Takeaway body 1"/>
          <p:cNvSpPr txBox="1"/>
          <p:nvPr/>
        </p:nvSpPr>
        <p:spPr>
          <a:xfrm>
            <a:off x="640080" y="2148840"/>
            <a:ext cx="2286000" cy="1234440"/>
          </a:xfrm>
          <a:prstGeom prst="rect">
            <a:avLst/>
          </a:prstGeom>
          <a:noFill/>
          <a:ln/>
        </p:spPr>
        <p:txBody>
          <a:bodyPr wrap="square" lIns="0" tIns="0" rIns="0" bIns="0" rtlCol="0" anchor="t"/>
          <a:lstStyle/>
          <a:p>
            <a:pPr indent="0" marL="0">
              <a:buNone/>
            </a:pPr>
            <a:r>
              <a:rPr lang="en-US" sz="1600" dirty="0">
                <a:solidFill>
                  <a:schemeClr val="bg1"/>
                </a:solidFill>
              </a:rPr>
              <a:t>Logistic regression is the strongest and most interpretable model.</a:t>
            </a:r>
            <a:endParaRPr lang="en-US" sz="1600" dirty="0"/>
          </a:p>
        </p:txBody>
      </p:sp>
      <p:sp>
        <p:nvSpPr>
          <p:cNvPr id="6" name="Takeaway card 2"/>
          <p:cNvSpPr/>
          <p:nvPr/>
        </p:nvSpPr>
        <p:spPr>
          <a:xfrm>
            <a:off x="3291840" y="1188720"/>
            <a:ext cx="2651760" cy="2286000"/>
          </a:xfrm>
          <a:prstGeom prst="roundRect">
            <a:avLst>
              <a:gd name="adj" fmla="val 3200"/>
            </a:avLst>
          </a:prstGeom>
          <a:solidFill>
            <a:schemeClr val="accent1"/>
          </a:solidFill>
          <a:ln w="12700">
            <a:solidFill>
              <a:schemeClr val="accent1"/>
            </a:solidFill>
            <a:prstDash val="solid"/>
          </a:ln>
        </p:spPr>
      </p:sp>
      <p:sp>
        <p:nvSpPr>
          <p:cNvPr id="7" name="Takeaway title 2"/>
          <p:cNvSpPr txBox="1"/>
          <p:nvPr/>
        </p:nvSpPr>
        <p:spPr>
          <a:xfrm>
            <a:off x="3474720" y="1325880"/>
            <a:ext cx="2286000" cy="731520"/>
          </a:xfrm>
          <a:prstGeom prst="rect">
            <a:avLst/>
          </a:prstGeom>
          <a:noFill/>
          <a:ln/>
        </p:spPr>
        <p:txBody>
          <a:bodyPr wrap="square" lIns="0" tIns="0" rIns="0" bIns="0" rtlCol="0" anchor="ctr"/>
          <a:lstStyle/>
          <a:p>
            <a:pPr indent="0" marL="0">
              <a:buNone/>
            </a:pPr>
            <a:r>
              <a:rPr lang="en-US" sz="2600" b="1" dirty="0">
                <a:solidFill>
                  <a:schemeClr val="bg1"/>
                </a:solidFill>
              </a:rPr>
              <a:t>Contract type</a:t>
            </a:r>
            <a:endParaRPr lang="en-US" sz="2600" dirty="0"/>
          </a:p>
        </p:txBody>
      </p:sp>
      <p:sp>
        <p:nvSpPr>
          <p:cNvPr id="8" name="Takeaway body 2"/>
          <p:cNvSpPr txBox="1"/>
          <p:nvPr/>
        </p:nvSpPr>
        <p:spPr>
          <a:xfrm>
            <a:off x="3474720" y="2148840"/>
            <a:ext cx="2286000" cy="1234440"/>
          </a:xfrm>
          <a:prstGeom prst="rect">
            <a:avLst/>
          </a:prstGeom>
          <a:noFill/>
          <a:ln/>
        </p:spPr>
        <p:txBody>
          <a:bodyPr wrap="square" lIns="0" tIns="0" rIns="0" bIns="0" rtlCol="0" anchor="t"/>
          <a:lstStyle/>
          <a:p>
            <a:pPr indent="0" marL="0">
              <a:buNone/>
            </a:pPr>
            <a:r>
              <a:rPr lang="en-US" sz="1600" dirty="0">
                <a:solidFill>
                  <a:schemeClr val="bg1"/>
                </a:solidFill>
              </a:rPr>
              <a:t>Short tenure and month-to-month contracts drive churn.</a:t>
            </a:r>
            <a:endParaRPr lang="en-US" sz="1600" dirty="0"/>
          </a:p>
        </p:txBody>
      </p:sp>
      <p:sp>
        <p:nvSpPr>
          <p:cNvPr id="9" name="Takeaway card 3"/>
          <p:cNvSpPr/>
          <p:nvPr/>
        </p:nvSpPr>
        <p:spPr>
          <a:xfrm>
            <a:off x="6126480" y="1188720"/>
            <a:ext cx="2651760" cy="2286000"/>
          </a:xfrm>
          <a:prstGeom prst="roundRect">
            <a:avLst>
              <a:gd name="adj" fmla="val 3200"/>
            </a:avLst>
          </a:prstGeom>
          <a:solidFill>
            <a:schemeClr val="accent1"/>
          </a:solidFill>
          <a:ln w="12700">
            <a:solidFill>
              <a:schemeClr val="accent1"/>
            </a:solidFill>
            <a:prstDash val="solid"/>
          </a:ln>
        </p:spPr>
      </p:sp>
      <p:sp>
        <p:nvSpPr>
          <p:cNvPr id="10" name="Takeaway title 3"/>
          <p:cNvSpPr txBox="1"/>
          <p:nvPr/>
        </p:nvSpPr>
        <p:spPr>
          <a:xfrm>
            <a:off x="6309360" y="1325880"/>
            <a:ext cx="2286000" cy="731520"/>
          </a:xfrm>
          <a:prstGeom prst="rect">
            <a:avLst/>
          </a:prstGeom>
          <a:noFill/>
          <a:ln/>
        </p:spPr>
        <p:txBody>
          <a:bodyPr wrap="square" lIns="0" tIns="0" rIns="0" bIns="0" rtlCol="0" anchor="ctr"/>
          <a:lstStyle/>
          <a:p>
            <a:pPr indent="0" marL="0">
              <a:buNone/>
            </a:pPr>
            <a:r>
              <a:rPr lang="en-US" sz="2600" b="1" dirty="0">
                <a:solidFill>
                  <a:schemeClr val="bg1"/>
                </a:solidFill>
              </a:rPr>
              <a:t>44% segment</a:t>
            </a:r>
            <a:endParaRPr lang="en-US" sz="2600" dirty="0"/>
          </a:p>
        </p:txBody>
      </p:sp>
      <p:sp>
        <p:nvSpPr>
          <p:cNvPr id="11" name="Takeaway body 3"/>
          <p:cNvSpPr txBox="1"/>
          <p:nvPr/>
        </p:nvSpPr>
        <p:spPr>
          <a:xfrm>
            <a:off x="6309360" y="2148840"/>
            <a:ext cx="2286000" cy="1234440"/>
          </a:xfrm>
          <a:prstGeom prst="rect">
            <a:avLst/>
          </a:prstGeom>
          <a:noFill/>
          <a:ln/>
        </p:spPr>
        <p:txBody>
          <a:bodyPr wrap="square" lIns="0" tIns="0" rIns="0" bIns="0" rtlCol="0" anchor="t"/>
          <a:lstStyle/>
          <a:p>
            <a:pPr indent="0" marL="0">
              <a:buNone/>
            </a:pPr>
            <a:r>
              <a:rPr lang="en-US" sz="1600" dirty="0">
                <a:solidFill>
                  <a:schemeClr val="bg1"/>
                </a:solidFill>
              </a:rPr>
              <a:t>Newer mid-bill customers are the retention priority.</a:t>
            </a:r>
            <a:endParaRPr lang="en-US" sz="1600" dirty="0"/>
          </a:p>
        </p:txBody>
      </p:sp>
      <p:sp>
        <p:nvSpPr>
          <p:cNvPr id="12" name="Limits and next"/>
          <p:cNvSpPr txBox="1"/>
          <p:nvPr/>
        </p:nvSpPr>
        <p:spPr>
          <a:xfrm>
            <a:off x="457200" y="3794760"/>
            <a:ext cx="8229600" cy="914400"/>
          </a:xfrm>
          <a:prstGeom prst="rect">
            <a:avLst/>
          </a:prstGeom>
          <a:noFill/>
          <a:ln/>
        </p:spPr>
        <p:txBody>
          <a:bodyPr wrap="square" lIns="0" tIns="0" rIns="0" bIns="0" rtlCol="0" anchor="t"/>
          <a:lstStyle/>
          <a:p>
            <a:pPr indent="0" marL="0">
              <a:spcAft>
                <a:spcPts val="800"/>
              </a:spcAft>
              <a:buNone/>
            </a:pPr>
            <a:r>
              <a:rPr lang="en-US" sz="1500" b="1" dirty="0">
                <a:solidFill>
                  <a:schemeClr val="accent3"/>
                </a:solidFill>
              </a:rPr>
              <a:t>Limits  </a:t>
            </a:r>
            <a:pPr indent="0" marL="0">
              <a:spcAft>
                <a:spcPts val="800"/>
              </a:spcAft>
              <a:buNone/>
            </a:pPr>
            <a:r>
              <a:rPr lang="en-US" sz="1500" dirty="0">
                <a:solidFill>
                  <a:schemeClr val="bg2"/>
                </a:solidFill>
              </a:rPr>
              <a:t>One dataset; probabilities are not calibrated; effects are associations, not causes.</a:t>
            </a:r>
            <a:endParaRPr lang="en-US" sz="1500" dirty="0"/>
          </a:p>
          <a:p>
            <a:pPr indent="0" marL="0">
              <a:spcAft>
                <a:spcPts val="800"/>
              </a:spcAft>
              <a:buNone/>
            </a:pPr>
            <a:r>
              <a:rPr lang="en-US" sz="1500" b="1" dirty="0">
                <a:solidFill>
                  <a:schemeClr val="accent3"/>
                </a:solidFill>
              </a:rPr>
              <a:t>Next  </a:t>
            </a:r>
            <a:pPr indent="0" marL="0">
              <a:spcAft>
                <a:spcPts val="800"/>
              </a:spcAft>
              <a:buNone/>
            </a:pPr>
            <a:r>
              <a:rPr lang="en-US" sz="1500" dirty="0">
                <a:solidFill>
                  <a:schemeClr val="bg2"/>
                </a:solidFill>
              </a:rPr>
              <a:t>A/B test retention offers, monitor drift, calibrate probabilities, try ensembles.</a:t>
            </a:r>
            <a:endParaRPr lang="en-US" sz="1500" dirty="0"/>
          </a:p>
        </p:txBody>
      </p:sp>
    </p:spTree>
  </p:cSld>
  <p:clrMapOvr>
    <a:masterClrMapping/>
  </p:clrMapOvr>
</p:sld>
</file>

<file path=ppt/theme/theme1.xml><?xml version="1.0" encoding="utf-8"?>
<a:theme xmlns:a="http://schemas.openxmlformats.org/drawingml/2006/main" name="ChurnIQ">
  <a:themeElements>
    <a:clrScheme name="ChurnIQ">
      <a:dk1>
        <a:srgbClr val="12263A"/>
      </a:dk1>
      <a:lt1>
        <a:srgbClr val="FFFFFF"/>
      </a:lt1>
      <a:dk2>
        <a:srgbClr val="1F4E79"/>
      </a:dk2>
      <a:lt2>
        <a:srgbClr val="EEF3F8"/>
      </a:lt2>
      <a:accent1>
        <a:srgbClr val="2E86AB"/>
      </a:accent1>
      <a:accent2>
        <a:srgbClr val="E4572E"/>
      </a:accent2>
      <a:accent3>
        <a:srgbClr val="F2A541"/>
      </a:accent3>
      <a:accent4>
        <a:srgbClr val="76B041"/>
      </a:accent4>
      <a:accent5>
        <a:srgbClr val="8E6BBF"/>
      </a:accent5>
      <a:accent6>
        <a:srgbClr val="6C757D"/>
      </a:accent6>
      <a:hlink>
        <a:srgbClr val="2E86AB"/>
      </a:hlink>
      <a:folHlink>
        <a:srgbClr val="6C757D"/>
      </a:folHlink>
    </a:clrScheme>
    <a:fontScheme name="ChurnIQ">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ChurnIQ - Telecom Churn Prediction</dc:title>
  <dc:subject>PptxGenJS Presentation</dc:subject>
  <dc:creator>PptxGenJS</dc:creator>
  <cp:lastModifiedBy>PptxGenJS</cp:lastModifiedBy>
  <cp:revision>1</cp:revision>
  <dcterms:created xsi:type="dcterms:W3CDTF">2026-10-26T18:03:51Z</dcterms:created>
  <dcterms:modified xsi:type="dcterms:W3CDTF">2026-10-26T18:03:51Z</dcterms:modified>
</cp:coreProperties>
</file>